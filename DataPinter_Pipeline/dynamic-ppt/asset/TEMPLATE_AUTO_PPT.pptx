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8288000" cy="10287000"/>
  <p:notesSz cx="6858000" cy="9144000"/>
  <p:embeddedFontLst>
    <p:embeddedFont>
      <p:font typeface="Canva Sans Bold" panose="020B0604020202020204" charset="0"/>
      <p:regular r:id="rId28"/>
    </p:embeddedFont>
    <p:embeddedFont>
      <p:font typeface="Canva Sans Bold Italics" panose="020B0604020202020204" charset="0"/>
      <p:regular r:id="rId29"/>
    </p:embeddedFont>
    <p:embeddedFont>
      <p:font typeface="Open Sauce Bold" panose="020B0604020202020204" charset="0"/>
      <p:regular r:id="rId30"/>
    </p:embeddedFont>
    <p:embeddedFont>
      <p:font typeface="Open Sauce Light"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27" d="100"/>
          <a:sy n="27" d="100"/>
        </p:scale>
        <p:origin x="81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3.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jpe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oleObject" Target="../embeddings/oleObject1.bin"/></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jpeg"/></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Freeform 2"/>
          <p:cNvSpPr/>
          <p:nvPr/>
        </p:nvSpPr>
        <p:spPr>
          <a:xfrm>
            <a:off x="1028700" y="728282"/>
            <a:ext cx="842256" cy="694610"/>
          </a:xfrm>
          <a:custGeom>
            <a:avLst/>
            <a:gdLst/>
            <a:ahLst/>
            <a:cxnLst/>
            <a:rect l="l" t="t" r="r" b="b"/>
            <a:pathLst>
              <a:path w="842256" h="694610">
                <a:moveTo>
                  <a:pt x="0" y="0"/>
                </a:moveTo>
                <a:lnTo>
                  <a:pt x="842256" y="0"/>
                </a:lnTo>
                <a:lnTo>
                  <a:pt x="842256" y="694609"/>
                </a:lnTo>
                <a:lnTo>
                  <a:pt x="0" y="6946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47589" y="2990990"/>
            <a:ext cx="14973299" cy="3736857"/>
          </a:xfrm>
          <a:prstGeom prst="rect">
            <a:avLst/>
          </a:prstGeom>
        </p:spPr>
        <p:txBody>
          <a:bodyPr wrap="square" lIns="0" tIns="0" rIns="0" bIns="0" rtlCol="0" anchor="t">
            <a:spAutoFit/>
          </a:bodyPr>
          <a:lstStyle/>
          <a:p>
            <a:pPr algn="l">
              <a:lnSpc>
                <a:spcPts val="15624"/>
              </a:lnSpc>
            </a:pPr>
            <a:r>
              <a:rPr lang="en-US" sz="8000" b="1" spc="-349" dirty="0">
                <a:solidFill>
                  <a:srgbClr val="C1E328"/>
                </a:solidFill>
                <a:latin typeface="Open Sauce Bold"/>
                <a:ea typeface="Open Sauce Bold"/>
                <a:cs typeface="Open Sauce Bold"/>
                <a:sym typeface="Open Sauce Bold"/>
              </a:rPr>
              <a:t>2025 PRODUCT AND BRAND ANALYSIS</a:t>
            </a:r>
          </a:p>
        </p:txBody>
      </p:sp>
      <p:sp>
        <p:nvSpPr>
          <p:cNvPr id="4" name="Freeform 4"/>
          <p:cNvSpPr/>
          <p:nvPr/>
        </p:nvSpPr>
        <p:spPr>
          <a:xfrm>
            <a:off x="17033089" y="4859419"/>
            <a:ext cx="801015" cy="1347272"/>
          </a:xfrm>
          <a:custGeom>
            <a:avLst/>
            <a:gdLst/>
            <a:ahLst/>
            <a:cxnLst/>
            <a:rect l="l" t="t" r="r" b="b"/>
            <a:pathLst>
              <a:path w="801015" h="1347272">
                <a:moveTo>
                  <a:pt x="0" y="0"/>
                </a:moveTo>
                <a:lnTo>
                  <a:pt x="801014" y="0"/>
                </a:lnTo>
                <a:lnTo>
                  <a:pt x="801014" y="1347272"/>
                </a:lnTo>
                <a:lnTo>
                  <a:pt x="0" y="13472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4070144" y="1123211"/>
            <a:ext cx="3189156" cy="269367"/>
          </a:xfrm>
          <a:prstGeom prst="rect">
            <a:avLst/>
          </a:prstGeom>
        </p:spPr>
        <p:txBody>
          <a:bodyPr lIns="0" tIns="0" rIns="0" bIns="0" rtlCol="0" anchor="t">
            <a:spAutoFit/>
          </a:bodyPr>
          <a:lstStyle/>
          <a:p>
            <a:pPr algn="r">
              <a:lnSpc>
                <a:spcPts val="1973"/>
              </a:lnSpc>
            </a:pPr>
            <a:r>
              <a:rPr lang="en-US" sz="2100" b="1" spc="98">
                <a:solidFill>
                  <a:srgbClr val="C1E328"/>
                </a:solidFill>
                <a:latin typeface="Open Sauce Bold"/>
                <a:ea typeface="Open Sauce Bold"/>
                <a:cs typeface="Open Sauce Bold"/>
                <a:sym typeface="Open Sauce Bold"/>
              </a:rPr>
              <a:t>JANUARY 2026</a:t>
            </a:r>
          </a:p>
        </p:txBody>
      </p:sp>
      <p:sp>
        <p:nvSpPr>
          <p:cNvPr id="6" name="TextBox 6"/>
          <p:cNvSpPr txBox="1"/>
          <p:nvPr/>
        </p:nvSpPr>
        <p:spPr>
          <a:xfrm>
            <a:off x="2029203" y="900517"/>
            <a:ext cx="4677089" cy="331089"/>
          </a:xfrm>
          <a:prstGeom prst="rect">
            <a:avLst/>
          </a:prstGeom>
        </p:spPr>
        <p:txBody>
          <a:bodyPr lIns="0" tIns="0" rIns="0" bIns="0" rtlCol="0" anchor="t">
            <a:spAutoFit/>
          </a:bodyPr>
          <a:lstStyle/>
          <a:p>
            <a:pPr algn="just">
              <a:lnSpc>
                <a:spcPts val="2688"/>
              </a:lnSpc>
            </a:pPr>
            <a:r>
              <a:rPr lang="en-US" sz="2100" b="1" spc="98">
                <a:solidFill>
                  <a:srgbClr val="C1E328"/>
                </a:solidFill>
                <a:latin typeface="Open Sauce Bold"/>
                <a:ea typeface="Open Sauce Bold"/>
                <a:cs typeface="Open Sauce Bold"/>
                <a:sym typeface="Open Sauce Bold"/>
              </a:rPr>
              <a:t>PT NOSE HERBALINDO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Freeform 2"/>
          <p:cNvSpPr/>
          <p:nvPr/>
        </p:nvSpPr>
        <p:spPr>
          <a:xfrm>
            <a:off x="610297" y="1075586"/>
            <a:ext cx="842256" cy="694610"/>
          </a:xfrm>
          <a:custGeom>
            <a:avLst/>
            <a:gdLst/>
            <a:ahLst/>
            <a:cxnLst/>
            <a:rect l="l" t="t" r="r" b="b"/>
            <a:pathLst>
              <a:path w="842256" h="694610">
                <a:moveTo>
                  <a:pt x="0" y="0"/>
                </a:moveTo>
                <a:lnTo>
                  <a:pt x="842256" y="0"/>
                </a:lnTo>
                <a:lnTo>
                  <a:pt x="842256" y="694610"/>
                </a:lnTo>
                <a:lnTo>
                  <a:pt x="0" y="6946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3771738" y="2389471"/>
            <a:ext cx="10744524" cy="2583988"/>
            <a:chOff x="0" y="0"/>
            <a:chExt cx="1664608" cy="400327"/>
          </a:xfrm>
        </p:grpSpPr>
        <p:sp>
          <p:nvSpPr>
            <p:cNvPr id="4" name="Freeform 4"/>
            <p:cNvSpPr/>
            <p:nvPr/>
          </p:nvSpPr>
          <p:spPr>
            <a:xfrm>
              <a:off x="0" y="0"/>
              <a:ext cx="1664608" cy="400327"/>
            </a:xfrm>
            <a:custGeom>
              <a:avLst/>
              <a:gdLst/>
              <a:ahLst/>
              <a:cxnLst/>
              <a:rect l="l" t="t" r="r" b="b"/>
              <a:pathLst>
                <a:path w="1664608" h="400327">
                  <a:moveTo>
                    <a:pt x="0" y="0"/>
                  </a:moveTo>
                  <a:lnTo>
                    <a:pt x="1664608" y="0"/>
                  </a:lnTo>
                  <a:lnTo>
                    <a:pt x="1664608" y="400327"/>
                  </a:lnTo>
                  <a:lnTo>
                    <a:pt x="0" y="400327"/>
                  </a:lnTo>
                  <a:close/>
                </a:path>
              </a:pathLst>
            </a:custGeom>
            <a:blipFill>
              <a:blip r:embed="rId4"/>
              <a:stretch>
                <a:fillRect t="-142393" b="-35160"/>
              </a:stretch>
            </a:blipFill>
          </p:spPr>
        </p:sp>
      </p:grpSp>
      <p:sp>
        <p:nvSpPr>
          <p:cNvPr id="5" name="Freeform 5"/>
          <p:cNvSpPr/>
          <p:nvPr/>
        </p:nvSpPr>
        <p:spPr>
          <a:xfrm rot="5400000">
            <a:off x="196593" y="8377660"/>
            <a:ext cx="1666940" cy="839531"/>
          </a:xfrm>
          <a:custGeom>
            <a:avLst/>
            <a:gdLst/>
            <a:ahLst/>
            <a:cxnLst/>
            <a:rect l="l" t="t" r="r" b="b"/>
            <a:pathLst>
              <a:path w="1666940" h="839531">
                <a:moveTo>
                  <a:pt x="0" y="0"/>
                </a:moveTo>
                <a:lnTo>
                  <a:pt x="1666939" y="0"/>
                </a:lnTo>
                <a:lnTo>
                  <a:pt x="1666939" y="839531"/>
                </a:lnTo>
                <a:lnTo>
                  <a:pt x="0" y="839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1784723" y="1247822"/>
            <a:ext cx="6760384" cy="331089"/>
          </a:xfrm>
          <a:prstGeom prst="rect">
            <a:avLst/>
          </a:prstGeom>
        </p:spPr>
        <p:txBody>
          <a:bodyPr lIns="0" tIns="0" rIns="0" bIns="0" rtlCol="0" anchor="t">
            <a:spAutoFit/>
          </a:bodyPr>
          <a:lstStyle/>
          <a:p>
            <a:pPr algn="just">
              <a:lnSpc>
                <a:spcPts val="2688"/>
              </a:lnSpc>
            </a:pPr>
            <a:r>
              <a:rPr lang="en-US" sz="2100" b="1" spc="98">
                <a:solidFill>
                  <a:srgbClr val="C1E328"/>
                </a:solidFill>
                <a:latin typeface="Open Sauce Bold"/>
                <a:ea typeface="Open Sauce Bold"/>
                <a:cs typeface="Open Sauce Bold"/>
                <a:sym typeface="Open Sauce Bold"/>
              </a:rPr>
              <a:t>PT NOSE HERBALINDO</a:t>
            </a:r>
          </a:p>
        </p:txBody>
      </p:sp>
      <p:sp>
        <p:nvSpPr>
          <p:cNvPr id="7" name="TextBox 7"/>
          <p:cNvSpPr txBox="1"/>
          <p:nvPr/>
        </p:nvSpPr>
        <p:spPr>
          <a:xfrm>
            <a:off x="5164915" y="5564009"/>
            <a:ext cx="7625471" cy="1026161"/>
          </a:xfrm>
          <a:prstGeom prst="rect">
            <a:avLst/>
          </a:prstGeom>
        </p:spPr>
        <p:txBody>
          <a:bodyPr lIns="0" tIns="0" rIns="0" bIns="0" rtlCol="0" anchor="t">
            <a:spAutoFit/>
          </a:bodyPr>
          <a:lstStyle/>
          <a:p>
            <a:pPr algn="l">
              <a:lnSpc>
                <a:spcPts val="7520"/>
              </a:lnSpc>
            </a:pPr>
            <a:r>
              <a:rPr lang="en-US" sz="8000" b="1" spc="-168">
                <a:solidFill>
                  <a:srgbClr val="C1E328"/>
                </a:solidFill>
                <a:latin typeface="Open Sauce Bold"/>
                <a:ea typeface="Open Sauce Bold"/>
                <a:cs typeface="Open Sauce Bold"/>
                <a:sym typeface="Open Sauce Bold"/>
              </a:rPr>
              <a:t>THE PROBLEM</a:t>
            </a:r>
          </a:p>
        </p:txBody>
      </p:sp>
      <p:sp>
        <p:nvSpPr>
          <p:cNvPr id="8" name="TextBox 8"/>
          <p:cNvSpPr txBox="1"/>
          <p:nvPr/>
        </p:nvSpPr>
        <p:spPr>
          <a:xfrm>
            <a:off x="3771738" y="6688576"/>
            <a:ext cx="10744524" cy="1193471"/>
          </a:xfrm>
          <a:prstGeom prst="rect">
            <a:avLst/>
          </a:prstGeom>
        </p:spPr>
        <p:txBody>
          <a:bodyPr lIns="0" tIns="0" rIns="0" bIns="0" rtlCol="0" anchor="t">
            <a:spAutoFit/>
          </a:bodyPr>
          <a:lstStyle/>
          <a:p>
            <a:pPr algn="ctr">
              <a:lnSpc>
                <a:spcPts val="3207"/>
              </a:lnSpc>
            </a:pPr>
            <a:r>
              <a:rPr lang="en-US" sz="2629" spc="42">
                <a:solidFill>
                  <a:srgbClr val="C1E328"/>
                </a:solidFill>
                <a:latin typeface="Open Sauce Light"/>
                <a:ea typeface="Open Sauce Light"/>
                <a:cs typeface="Open Sauce Light"/>
                <a:sym typeface="Open Sauce Light"/>
              </a:rPr>
              <a:t>Sebagai maklon kosmetik PT NOSE HERBALINDO belum melakukan analisis mendalam secara kuantitatif untuk mengukur posisinya terhadap pasar jasa maklon kosmetik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842256" cy="694610"/>
          </a:xfrm>
          <a:custGeom>
            <a:avLst/>
            <a:gdLst/>
            <a:ahLst/>
            <a:cxnLst/>
            <a:rect l="l" t="t" r="r" b="b"/>
            <a:pathLst>
              <a:path w="842256" h="694610">
                <a:moveTo>
                  <a:pt x="0" y="0"/>
                </a:moveTo>
                <a:lnTo>
                  <a:pt x="842256" y="0"/>
                </a:lnTo>
                <a:lnTo>
                  <a:pt x="842256" y="694610"/>
                </a:lnTo>
                <a:lnTo>
                  <a:pt x="0" y="6946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3771738" y="2264672"/>
            <a:ext cx="10744524" cy="2583988"/>
            <a:chOff x="0" y="0"/>
            <a:chExt cx="1664608" cy="400327"/>
          </a:xfrm>
        </p:grpSpPr>
        <p:sp>
          <p:nvSpPr>
            <p:cNvPr id="4" name="Freeform 4"/>
            <p:cNvSpPr/>
            <p:nvPr/>
          </p:nvSpPr>
          <p:spPr>
            <a:xfrm>
              <a:off x="0" y="0"/>
              <a:ext cx="1664608" cy="400327"/>
            </a:xfrm>
            <a:custGeom>
              <a:avLst/>
              <a:gdLst/>
              <a:ahLst/>
              <a:cxnLst/>
              <a:rect l="l" t="t" r="r" b="b"/>
              <a:pathLst>
                <a:path w="1664608" h="400327">
                  <a:moveTo>
                    <a:pt x="0" y="0"/>
                  </a:moveTo>
                  <a:lnTo>
                    <a:pt x="1664608" y="0"/>
                  </a:lnTo>
                  <a:lnTo>
                    <a:pt x="1664608" y="400327"/>
                  </a:lnTo>
                  <a:lnTo>
                    <a:pt x="0" y="400327"/>
                  </a:lnTo>
                  <a:close/>
                </a:path>
              </a:pathLst>
            </a:custGeom>
            <a:blipFill>
              <a:blip r:embed="rId4"/>
              <a:stretch>
                <a:fillRect t="-142393" b="-35160"/>
              </a:stretch>
            </a:blipFill>
          </p:spPr>
        </p:sp>
      </p:grpSp>
      <p:sp>
        <p:nvSpPr>
          <p:cNvPr id="5" name="Freeform 5"/>
          <p:cNvSpPr/>
          <p:nvPr/>
        </p:nvSpPr>
        <p:spPr>
          <a:xfrm rot="5400000">
            <a:off x="617721" y="8005064"/>
            <a:ext cx="1666940" cy="839531"/>
          </a:xfrm>
          <a:custGeom>
            <a:avLst/>
            <a:gdLst/>
            <a:ahLst/>
            <a:cxnLst/>
            <a:rect l="l" t="t" r="r" b="b"/>
            <a:pathLst>
              <a:path w="1666940" h="839531">
                <a:moveTo>
                  <a:pt x="0" y="0"/>
                </a:moveTo>
                <a:lnTo>
                  <a:pt x="1666939" y="0"/>
                </a:lnTo>
                <a:lnTo>
                  <a:pt x="1666939" y="839532"/>
                </a:lnTo>
                <a:lnTo>
                  <a:pt x="0" y="83953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2217266" y="1200935"/>
            <a:ext cx="6760384" cy="331089"/>
          </a:xfrm>
          <a:prstGeom prst="rect">
            <a:avLst/>
          </a:prstGeom>
        </p:spPr>
        <p:txBody>
          <a:bodyPr lIns="0" tIns="0" rIns="0" bIns="0" rtlCol="0" anchor="t">
            <a:spAutoFit/>
          </a:bodyPr>
          <a:lstStyle/>
          <a:p>
            <a:pPr algn="just">
              <a:lnSpc>
                <a:spcPts val="2688"/>
              </a:lnSpc>
            </a:pPr>
            <a:r>
              <a:rPr lang="en-US" sz="2100" b="1" spc="98">
                <a:solidFill>
                  <a:srgbClr val="C1E328"/>
                </a:solidFill>
                <a:latin typeface="Open Sauce Bold"/>
                <a:ea typeface="Open Sauce Bold"/>
                <a:cs typeface="Open Sauce Bold"/>
                <a:sym typeface="Open Sauce Bold"/>
              </a:rPr>
              <a:t>PT NOSE HERBALINDO</a:t>
            </a:r>
          </a:p>
        </p:txBody>
      </p:sp>
      <p:sp>
        <p:nvSpPr>
          <p:cNvPr id="7" name="TextBox 7"/>
          <p:cNvSpPr txBox="1"/>
          <p:nvPr/>
        </p:nvSpPr>
        <p:spPr>
          <a:xfrm>
            <a:off x="4965966" y="5772584"/>
            <a:ext cx="7625471" cy="1026161"/>
          </a:xfrm>
          <a:prstGeom prst="rect">
            <a:avLst/>
          </a:prstGeom>
        </p:spPr>
        <p:txBody>
          <a:bodyPr lIns="0" tIns="0" rIns="0" bIns="0" rtlCol="0" anchor="t">
            <a:spAutoFit/>
          </a:bodyPr>
          <a:lstStyle/>
          <a:p>
            <a:pPr algn="l">
              <a:lnSpc>
                <a:spcPts val="7520"/>
              </a:lnSpc>
            </a:pPr>
            <a:r>
              <a:rPr lang="en-US" sz="8000" b="1" spc="-168">
                <a:solidFill>
                  <a:srgbClr val="C1E328"/>
                </a:solidFill>
                <a:latin typeface="Open Sauce Bold"/>
                <a:ea typeface="Open Sauce Bold"/>
                <a:cs typeface="Open Sauce Bold"/>
                <a:sym typeface="Open Sauce Bold"/>
              </a:rPr>
              <a:t>THE SOLUTION</a:t>
            </a:r>
          </a:p>
        </p:txBody>
      </p:sp>
      <p:sp>
        <p:nvSpPr>
          <p:cNvPr id="8" name="TextBox 8"/>
          <p:cNvSpPr txBox="1"/>
          <p:nvPr/>
        </p:nvSpPr>
        <p:spPr>
          <a:xfrm>
            <a:off x="3771738" y="7194628"/>
            <a:ext cx="10744524" cy="793421"/>
          </a:xfrm>
          <a:prstGeom prst="rect">
            <a:avLst/>
          </a:prstGeom>
        </p:spPr>
        <p:txBody>
          <a:bodyPr lIns="0" tIns="0" rIns="0" bIns="0" rtlCol="0" anchor="t">
            <a:spAutoFit/>
          </a:bodyPr>
          <a:lstStyle/>
          <a:p>
            <a:pPr algn="ctr">
              <a:lnSpc>
                <a:spcPts val="3207"/>
              </a:lnSpc>
            </a:pPr>
            <a:r>
              <a:rPr lang="en-US" sz="2629" spc="42">
                <a:solidFill>
                  <a:srgbClr val="C1E328"/>
                </a:solidFill>
                <a:latin typeface="Open Sauce Light"/>
                <a:ea typeface="Open Sauce Light"/>
                <a:cs typeface="Open Sauce Light"/>
                <a:sym typeface="Open Sauce Light"/>
              </a:rPr>
              <a:t>Lakukan scraping dan analisis pada data BPOM untuk melihat data  dalam jangka waktu setahun terakhir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842256" cy="694610"/>
          </a:xfrm>
          <a:custGeom>
            <a:avLst/>
            <a:gdLst/>
            <a:ahLst/>
            <a:cxnLst/>
            <a:rect l="l" t="t" r="r" b="b"/>
            <a:pathLst>
              <a:path w="842256" h="694610">
                <a:moveTo>
                  <a:pt x="0" y="0"/>
                </a:moveTo>
                <a:lnTo>
                  <a:pt x="842256" y="0"/>
                </a:lnTo>
                <a:lnTo>
                  <a:pt x="842256" y="694610"/>
                </a:lnTo>
                <a:lnTo>
                  <a:pt x="0" y="6946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3605388" y="2265060"/>
            <a:ext cx="10744524" cy="2583988"/>
            <a:chOff x="0" y="0"/>
            <a:chExt cx="1664608" cy="400327"/>
          </a:xfrm>
        </p:grpSpPr>
        <p:sp>
          <p:nvSpPr>
            <p:cNvPr id="4" name="Freeform 4"/>
            <p:cNvSpPr/>
            <p:nvPr/>
          </p:nvSpPr>
          <p:spPr>
            <a:xfrm>
              <a:off x="0" y="0"/>
              <a:ext cx="1664608" cy="400327"/>
            </a:xfrm>
            <a:custGeom>
              <a:avLst/>
              <a:gdLst/>
              <a:ahLst/>
              <a:cxnLst/>
              <a:rect l="l" t="t" r="r" b="b"/>
              <a:pathLst>
                <a:path w="1664608" h="400327">
                  <a:moveTo>
                    <a:pt x="0" y="0"/>
                  </a:moveTo>
                  <a:lnTo>
                    <a:pt x="1664608" y="0"/>
                  </a:lnTo>
                  <a:lnTo>
                    <a:pt x="1664608" y="400327"/>
                  </a:lnTo>
                  <a:lnTo>
                    <a:pt x="0" y="400327"/>
                  </a:lnTo>
                  <a:close/>
                </a:path>
              </a:pathLst>
            </a:custGeom>
            <a:blipFill>
              <a:blip r:embed="rId4"/>
              <a:stretch>
                <a:fillRect t="-142393" b="-35160"/>
              </a:stretch>
            </a:blipFill>
          </p:spPr>
        </p:sp>
      </p:grpSp>
      <p:sp>
        <p:nvSpPr>
          <p:cNvPr id="5" name="Freeform 5"/>
          <p:cNvSpPr/>
          <p:nvPr/>
        </p:nvSpPr>
        <p:spPr>
          <a:xfrm rot="5400000">
            <a:off x="617721" y="8005064"/>
            <a:ext cx="1666940" cy="839531"/>
          </a:xfrm>
          <a:custGeom>
            <a:avLst/>
            <a:gdLst/>
            <a:ahLst/>
            <a:cxnLst/>
            <a:rect l="l" t="t" r="r" b="b"/>
            <a:pathLst>
              <a:path w="1666940" h="839531">
                <a:moveTo>
                  <a:pt x="0" y="0"/>
                </a:moveTo>
                <a:lnTo>
                  <a:pt x="1666939" y="0"/>
                </a:lnTo>
                <a:lnTo>
                  <a:pt x="1666939" y="839532"/>
                </a:lnTo>
                <a:lnTo>
                  <a:pt x="0" y="83953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2217266" y="1200935"/>
            <a:ext cx="6760384" cy="331089"/>
          </a:xfrm>
          <a:prstGeom prst="rect">
            <a:avLst/>
          </a:prstGeom>
        </p:spPr>
        <p:txBody>
          <a:bodyPr lIns="0" tIns="0" rIns="0" bIns="0" rtlCol="0" anchor="t">
            <a:spAutoFit/>
          </a:bodyPr>
          <a:lstStyle/>
          <a:p>
            <a:pPr algn="just">
              <a:lnSpc>
                <a:spcPts val="2688"/>
              </a:lnSpc>
            </a:pPr>
            <a:r>
              <a:rPr lang="en-US" sz="2100" b="1" spc="98">
                <a:solidFill>
                  <a:srgbClr val="C1E328"/>
                </a:solidFill>
                <a:latin typeface="Open Sauce Bold"/>
                <a:ea typeface="Open Sauce Bold"/>
                <a:cs typeface="Open Sauce Bold"/>
                <a:sym typeface="Open Sauce Bold"/>
              </a:rPr>
              <a:t>PT NOSE HERBALINDO</a:t>
            </a:r>
          </a:p>
        </p:txBody>
      </p:sp>
      <p:sp>
        <p:nvSpPr>
          <p:cNvPr id="7" name="TextBox 7"/>
          <p:cNvSpPr txBox="1"/>
          <p:nvPr/>
        </p:nvSpPr>
        <p:spPr>
          <a:xfrm>
            <a:off x="5427022" y="5487731"/>
            <a:ext cx="7433956" cy="2103629"/>
          </a:xfrm>
          <a:prstGeom prst="rect">
            <a:avLst/>
          </a:prstGeom>
        </p:spPr>
        <p:txBody>
          <a:bodyPr lIns="0" tIns="0" rIns="0" bIns="0" rtlCol="0" anchor="t">
            <a:spAutoFit/>
          </a:bodyPr>
          <a:lstStyle/>
          <a:p>
            <a:pPr algn="ctr">
              <a:lnSpc>
                <a:spcPts val="8094"/>
              </a:lnSpc>
            </a:pPr>
            <a:r>
              <a:rPr lang="en-US" sz="8611" b="1" spc="-180">
                <a:solidFill>
                  <a:srgbClr val="C1E328"/>
                </a:solidFill>
                <a:latin typeface="Open Sauce Bold"/>
                <a:ea typeface="Open Sauce Bold"/>
                <a:cs typeface="Open Sauce Bold"/>
                <a:sym typeface="Open Sauce Bold"/>
              </a:rPr>
              <a:t>BRAND OVERVIEW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TextBox 2"/>
          <p:cNvSpPr txBox="1"/>
          <p:nvPr/>
        </p:nvSpPr>
        <p:spPr>
          <a:xfrm>
            <a:off x="457200" y="723900"/>
            <a:ext cx="8809757" cy="1779979"/>
          </a:xfrm>
          <a:prstGeom prst="rect">
            <a:avLst/>
          </a:prstGeom>
        </p:spPr>
        <p:txBody>
          <a:bodyPr lIns="0" tIns="0" rIns="0" bIns="0" rtlCol="0" anchor="t">
            <a:spAutoFit/>
          </a:bodyPr>
          <a:lstStyle/>
          <a:p>
            <a:pPr algn="l">
              <a:lnSpc>
                <a:spcPts val="4575"/>
              </a:lnSpc>
            </a:pPr>
            <a:r>
              <a:rPr lang="en-US" sz="4867" b="1" spc="-102" dirty="0">
                <a:solidFill>
                  <a:srgbClr val="C1E328"/>
                </a:solidFill>
                <a:latin typeface="Open Sauce Bold"/>
                <a:ea typeface="Open Sauce Bold"/>
                <a:cs typeface="Open Sauce Bold"/>
                <a:sym typeface="Open Sauce Bold"/>
              </a:rPr>
              <a:t>BRAND DENGAN MARKET SHARE TERTINGGI DI KATEGORI MOISTURIZER!</a:t>
            </a:r>
          </a:p>
        </p:txBody>
      </p:sp>
      <p:sp>
        <p:nvSpPr>
          <p:cNvPr id="4" name="TextBox 4"/>
          <p:cNvSpPr txBox="1"/>
          <p:nvPr/>
        </p:nvSpPr>
        <p:spPr>
          <a:xfrm>
            <a:off x="457200" y="5121442"/>
            <a:ext cx="7060631" cy="1746026"/>
          </a:xfrm>
          <a:prstGeom prst="rect">
            <a:avLst/>
          </a:prstGeom>
        </p:spPr>
        <p:txBody>
          <a:bodyPr lIns="0" tIns="0" rIns="0" bIns="0" rtlCol="0" anchor="t">
            <a:spAutoFit/>
          </a:bodyPr>
          <a:lstStyle/>
          <a:p>
            <a:pPr marL="0" lvl="0" indent="0" algn="just">
              <a:lnSpc>
                <a:spcPts val="3512"/>
              </a:lnSpc>
              <a:spcBef>
                <a:spcPct val="0"/>
              </a:spcBef>
            </a:pPr>
            <a:r>
              <a:rPr lang="en-US" sz="2508" b="1" dirty="0">
                <a:solidFill>
                  <a:srgbClr val="C1E328"/>
                </a:solidFill>
                <a:latin typeface="Canva Sans Bold"/>
                <a:ea typeface="Canva Sans Bold"/>
                <a:cs typeface="Canva Sans Bold"/>
                <a:sym typeface="Canva Sans Bold"/>
              </a:rPr>
              <a:t>Market Share </a:t>
            </a:r>
            <a:r>
              <a:rPr lang="en-US" sz="2508" b="1" dirty="0" err="1">
                <a:solidFill>
                  <a:srgbClr val="C1E328"/>
                </a:solidFill>
                <a:latin typeface="Canva Sans Bold"/>
                <a:ea typeface="Canva Sans Bold"/>
                <a:cs typeface="Canva Sans Bold"/>
                <a:sym typeface="Canva Sans Bold"/>
              </a:rPr>
              <a:t>Skintific</a:t>
            </a:r>
            <a:r>
              <a:rPr lang="en-US" sz="2508" b="1" dirty="0">
                <a:solidFill>
                  <a:srgbClr val="C1E328"/>
                </a:solidFill>
                <a:latin typeface="Canva Sans Bold"/>
                <a:ea typeface="Canva Sans Bold"/>
                <a:cs typeface="Canva Sans Bold"/>
                <a:sym typeface="Canva Sans Bold"/>
              </a:rPr>
              <a:t> </a:t>
            </a:r>
            <a:r>
              <a:rPr lang="en-US" sz="2508" b="1" dirty="0" err="1">
                <a:solidFill>
                  <a:srgbClr val="C1E328"/>
                </a:solidFill>
                <a:latin typeface="Canva Sans Bold"/>
                <a:ea typeface="Canva Sans Bold"/>
                <a:cs typeface="Canva Sans Bold"/>
                <a:sym typeface="Canva Sans Bold"/>
              </a:rPr>
              <a:t>dalam</a:t>
            </a:r>
            <a:r>
              <a:rPr lang="en-US" sz="2508" b="1" dirty="0">
                <a:solidFill>
                  <a:srgbClr val="C1E328"/>
                </a:solidFill>
                <a:latin typeface="Canva Sans Bold"/>
                <a:ea typeface="Canva Sans Bold"/>
                <a:cs typeface="Canva Sans Bold"/>
                <a:sym typeface="Canva Sans Bold"/>
              </a:rPr>
              <a:t> </a:t>
            </a:r>
            <a:r>
              <a:rPr lang="en-US" sz="2508" b="1" dirty="0" err="1">
                <a:solidFill>
                  <a:srgbClr val="C1E328"/>
                </a:solidFill>
                <a:latin typeface="Canva Sans Bold"/>
                <a:ea typeface="Canva Sans Bold"/>
                <a:cs typeface="Canva Sans Bold"/>
                <a:sym typeface="Canva Sans Bold"/>
              </a:rPr>
              <a:t>sebulan</a:t>
            </a:r>
            <a:r>
              <a:rPr lang="en-US" sz="2508" b="1" dirty="0">
                <a:solidFill>
                  <a:srgbClr val="C1E328"/>
                </a:solidFill>
                <a:latin typeface="Canva Sans Bold"/>
                <a:ea typeface="Canva Sans Bold"/>
                <a:cs typeface="Canva Sans Bold"/>
                <a:sym typeface="Canva Sans Bold"/>
              </a:rPr>
              <a:t> </a:t>
            </a:r>
            <a:r>
              <a:rPr lang="en-US" sz="2508" b="1" dirty="0" err="1">
                <a:solidFill>
                  <a:srgbClr val="C1E328"/>
                </a:solidFill>
                <a:latin typeface="Canva Sans Bold"/>
                <a:ea typeface="Canva Sans Bold"/>
                <a:cs typeface="Canva Sans Bold"/>
                <a:sym typeface="Canva Sans Bold"/>
              </a:rPr>
              <a:t>terakhir</a:t>
            </a:r>
            <a:r>
              <a:rPr lang="en-US" sz="2508" b="1" dirty="0">
                <a:solidFill>
                  <a:srgbClr val="C1E328"/>
                </a:solidFill>
                <a:latin typeface="Canva Sans Bold"/>
                <a:ea typeface="Canva Sans Bold"/>
                <a:cs typeface="Canva Sans Bold"/>
                <a:sym typeface="Canva Sans Bold"/>
              </a:rPr>
              <a:t> </a:t>
            </a:r>
            <a:r>
              <a:rPr lang="en-US" sz="2508" b="1" dirty="0" err="1">
                <a:solidFill>
                  <a:srgbClr val="C1E328"/>
                </a:solidFill>
                <a:latin typeface="Canva Sans Bold"/>
                <a:ea typeface="Canva Sans Bold"/>
                <a:cs typeface="Canva Sans Bold"/>
                <a:sym typeface="Canva Sans Bold"/>
              </a:rPr>
              <a:t>mencapia</a:t>
            </a:r>
            <a:r>
              <a:rPr lang="en-US" sz="2508" b="1" dirty="0">
                <a:solidFill>
                  <a:srgbClr val="C1E328"/>
                </a:solidFill>
                <a:latin typeface="Canva Sans Bold"/>
                <a:ea typeface="Canva Sans Bold"/>
                <a:cs typeface="Canva Sans Bold"/>
                <a:sym typeface="Canva Sans Bold"/>
              </a:rPr>
              <a:t> 26.4% (9,2 </a:t>
            </a:r>
            <a:r>
              <a:rPr lang="en-US" sz="2508" b="1" dirty="0" err="1">
                <a:solidFill>
                  <a:srgbClr val="C1E328"/>
                </a:solidFill>
                <a:latin typeface="Canva Sans Bold"/>
                <a:ea typeface="Canva Sans Bold"/>
                <a:cs typeface="Canva Sans Bold"/>
                <a:sym typeface="Canva Sans Bold"/>
              </a:rPr>
              <a:t>miliar</a:t>
            </a:r>
            <a:r>
              <a:rPr lang="en-US" sz="2508" b="1" dirty="0">
                <a:solidFill>
                  <a:srgbClr val="C1E328"/>
                </a:solidFill>
                <a:latin typeface="Canva Sans Bold"/>
                <a:ea typeface="Canva Sans Bold"/>
                <a:cs typeface="Canva Sans Bold"/>
                <a:sym typeface="Canva Sans Bold"/>
              </a:rPr>
              <a:t> Rupiah). </a:t>
            </a:r>
            <a:r>
              <a:rPr lang="en-US" sz="2508" b="1" dirty="0" err="1">
                <a:solidFill>
                  <a:srgbClr val="C1E328"/>
                </a:solidFill>
                <a:latin typeface="Canva Sans Bold"/>
                <a:ea typeface="Canva Sans Bold"/>
                <a:cs typeface="Canva Sans Bold"/>
                <a:sym typeface="Canva Sans Bold"/>
              </a:rPr>
              <a:t>Mengalahkan</a:t>
            </a:r>
            <a:r>
              <a:rPr lang="en-US" sz="2508" b="1" dirty="0">
                <a:solidFill>
                  <a:srgbClr val="C1E328"/>
                </a:solidFill>
                <a:latin typeface="Canva Sans Bold"/>
                <a:ea typeface="Canva Sans Bold"/>
                <a:cs typeface="Canva Sans Bold"/>
                <a:sym typeface="Canva Sans Bold"/>
              </a:rPr>
              <a:t> brand-brand </a:t>
            </a:r>
            <a:r>
              <a:rPr lang="en-US" sz="2508" b="1" dirty="0" err="1">
                <a:solidFill>
                  <a:srgbClr val="C1E328"/>
                </a:solidFill>
                <a:latin typeface="Canva Sans Bold"/>
                <a:ea typeface="Canva Sans Bold"/>
                <a:cs typeface="Canva Sans Bold"/>
                <a:sym typeface="Canva Sans Bold"/>
              </a:rPr>
              <a:t>lainnya</a:t>
            </a:r>
            <a:r>
              <a:rPr lang="en-US" sz="2508" b="1" dirty="0">
                <a:solidFill>
                  <a:srgbClr val="C1E328"/>
                </a:solidFill>
                <a:latin typeface="Canva Sans Bold"/>
                <a:ea typeface="Canva Sans Bold"/>
                <a:cs typeface="Canva Sans Bold"/>
                <a:sym typeface="Canva Sans Bold"/>
              </a:rPr>
              <a:t> di </a:t>
            </a:r>
            <a:r>
              <a:rPr lang="en-US" sz="2508" b="1" dirty="0" err="1">
                <a:solidFill>
                  <a:srgbClr val="C1E328"/>
                </a:solidFill>
                <a:latin typeface="Canva Sans Bold"/>
                <a:ea typeface="Canva Sans Bold"/>
                <a:cs typeface="Canva Sans Bold"/>
                <a:sym typeface="Canva Sans Bold"/>
              </a:rPr>
              <a:t>kategori</a:t>
            </a:r>
            <a:r>
              <a:rPr lang="en-US" sz="2508" b="1" dirty="0">
                <a:solidFill>
                  <a:srgbClr val="C1E328"/>
                </a:solidFill>
                <a:latin typeface="Canva Sans Bold"/>
                <a:ea typeface="Canva Sans Bold"/>
                <a:cs typeface="Canva Sans Bold"/>
                <a:sym typeface="Canva Sans Bold"/>
              </a:rPr>
              <a:t> </a:t>
            </a:r>
            <a:r>
              <a:rPr lang="en-US" sz="2508" b="1" i="1" dirty="0">
                <a:solidFill>
                  <a:srgbClr val="C1E328"/>
                </a:solidFill>
                <a:latin typeface="Canva Sans Bold Italics"/>
                <a:ea typeface="Canva Sans Bold Italics"/>
                <a:cs typeface="Canva Sans Bold Italics"/>
                <a:sym typeface="Canva Sans Bold Italics"/>
              </a:rPr>
              <a:t>moisturizer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TextBox 2"/>
          <p:cNvSpPr txBox="1"/>
          <p:nvPr/>
        </p:nvSpPr>
        <p:spPr>
          <a:xfrm>
            <a:off x="689327" y="478358"/>
            <a:ext cx="15127833" cy="1234132"/>
          </a:xfrm>
          <a:prstGeom prst="rect">
            <a:avLst/>
          </a:prstGeom>
        </p:spPr>
        <p:txBody>
          <a:bodyPr lIns="0" tIns="0" rIns="0" bIns="0" rtlCol="0" anchor="t">
            <a:spAutoFit/>
          </a:bodyPr>
          <a:lstStyle/>
          <a:p>
            <a:pPr algn="l">
              <a:lnSpc>
                <a:spcPts val="4763"/>
              </a:lnSpc>
            </a:pPr>
            <a:r>
              <a:rPr lang="en-US" sz="5067" b="1" spc="-106">
                <a:solidFill>
                  <a:srgbClr val="C1E328"/>
                </a:solidFill>
                <a:latin typeface="Open Sauce Bold"/>
                <a:ea typeface="Open Sauce Bold"/>
                <a:cs typeface="Open Sauce Bold"/>
                <a:sym typeface="Open Sauce Bold"/>
              </a:rPr>
              <a:t>SKINTIFIC JADI BRAND DENGAN PENJUALAN TERTINGGI DI SEPANJANG FEBRUARI 2026!</a:t>
            </a:r>
          </a:p>
        </p:txBody>
      </p:sp>
      <p:sp>
        <p:nvSpPr>
          <p:cNvPr id="3" name="TextBox 3"/>
          <p:cNvSpPr txBox="1"/>
          <p:nvPr/>
        </p:nvSpPr>
        <p:spPr>
          <a:xfrm>
            <a:off x="2214402" y="8814735"/>
            <a:ext cx="13859196" cy="80813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Brand Skintific menjual 64165 unit moisturizer di sepanjang Februari 2026. Glad2Glow ada di urutan kedua, dengan 39240 unit produk yang terjual</a:t>
            </a:r>
          </a:p>
        </p:txBody>
      </p:sp>
      <p:pic>
        <p:nvPicPr>
          <p:cNvPr id="4" name="Picture 4"/>
          <p:cNvPicPr>
            <a:picLocks noChangeAspect="1"/>
          </p:cNvPicPr>
          <p:nvPr/>
        </p:nvPicPr>
        <p:blipFill>
          <a:blip r:embed="rId2"/>
          <a:stretch>
            <a:fillRect/>
          </a:stretch>
        </p:blipFill>
        <p:spPr>
          <a:xfrm>
            <a:off x="1981200" y="1724432"/>
            <a:ext cx="13137841" cy="758796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TextBox 2"/>
          <p:cNvSpPr txBox="1"/>
          <p:nvPr/>
        </p:nvSpPr>
        <p:spPr>
          <a:xfrm>
            <a:off x="689327" y="430733"/>
            <a:ext cx="14409981" cy="1341262"/>
          </a:xfrm>
          <a:prstGeom prst="rect">
            <a:avLst/>
          </a:prstGeom>
        </p:spPr>
        <p:txBody>
          <a:bodyPr lIns="0" tIns="0" rIns="0" bIns="0" rtlCol="0" anchor="t">
            <a:spAutoFit/>
          </a:bodyPr>
          <a:lstStyle/>
          <a:p>
            <a:pPr algn="l">
              <a:lnSpc>
                <a:spcPts val="3454"/>
              </a:lnSpc>
            </a:pPr>
            <a:r>
              <a:rPr lang="en-US" sz="3675" b="1" spc="-77">
                <a:solidFill>
                  <a:srgbClr val="C1E328"/>
                </a:solidFill>
                <a:latin typeface="Open Sauce Bold"/>
                <a:ea typeface="Open Sauce Bold"/>
                <a:cs typeface="Open Sauce Bold"/>
                <a:sym typeface="Open Sauce Bold"/>
              </a:rPr>
              <a:t>SKINTIFIC TERNYATA DI URUTAN KETIGA! THE ORIGINOTE MENJADI BRAND DENGAN PERSENTASE MARKET PENETRATION TERTINGGI!</a:t>
            </a:r>
          </a:p>
        </p:txBody>
      </p:sp>
      <p:pic>
        <p:nvPicPr>
          <p:cNvPr id="3" name="Picture 3"/>
          <p:cNvPicPr>
            <a:picLocks noChangeAspect="1"/>
          </p:cNvPicPr>
          <p:nvPr/>
        </p:nvPicPr>
        <p:blipFill>
          <a:blip r:embed="rId2"/>
          <a:stretch>
            <a:fillRect/>
          </a:stretch>
        </p:blipFill>
        <p:spPr>
          <a:xfrm>
            <a:off x="-709189" y="1179152"/>
            <a:ext cx="10251397" cy="9194870"/>
          </a:xfrm>
          <a:prstGeom prst="rect">
            <a:avLst/>
          </a:prstGeom>
        </p:spPr>
      </p:pic>
      <p:sp>
        <p:nvSpPr>
          <p:cNvPr id="4" name="TextBox 4"/>
          <p:cNvSpPr txBox="1"/>
          <p:nvPr/>
        </p:nvSpPr>
        <p:spPr>
          <a:xfrm>
            <a:off x="8473119" y="2154483"/>
            <a:ext cx="8786181" cy="2036856"/>
          </a:xfrm>
          <a:prstGeom prst="rect">
            <a:avLst/>
          </a:prstGeom>
        </p:spPr>
        <p:txBody>
          <a:bodyPr lIns="0" tIns="0" rIns="0" bIns="0" rtlCol="0" anchor="t">
            <a:spAutoFit/>
          </a:bodyPr>
          <a:lstStyle/>
          <a:p>
            <a:pPr marL="0" lvl="0" indent="0" algn="just">
              <a:lnSpc>
                <a:spcPts val="3232"/>
              </a:lnSpc>
              <a:spcBef>
                <a:spcPct val="0"/>
              </a:spcBef>
            </a:pPr>
            <a:r>
              <a:rPr lang="en-US" sz="2308" b="1" dirty="0">
                <a:solidFill>
                  <a:srgbClr val="C1E328"/>
                </a:solidFill>
                <a:latin typeface="Canva Sans Bold"/>
                <a:ea typeface="Canva Sans Bold"/>
                <a:cs typeface="Canva Sans Bold"/>
                <a:sym typeface="Canva Sans Bold"/>
              </a:rPr>
              <a:t>Level </a:t>
            </a:r>
            <a:r>
              <a:rPr lang="en-US" sz="2308" b="1" dirty="0" err="1">
                <a:solidFill>
                  <a:srgbClr val="C1E328"/>
                </a:solidFill>
                <a:latin typeface="Canva Sans Bold"/>
                <a:ea typeface="Canva Sans Bold"/>
                <a:cs typeface="Canva Sans Bold"/>
                <a:sym typeface="Canva Sans Bold"/>
              </a:rPr>
              <a:t>penjualan</a:t>
            </a:r>
            <a:r>
              <a:rPr lang="en-US" sz="2308" b="1" dirty="0">
                <a:solidFill>
                  <a:srgbClr val="C1E328"/>
                </a:solidFill>
                <a:latin typeface="Canva Sans Bold"/>
                <a:ea typeface="Canva Sans Bold"/>
                <a:cs typeface="Canva Sans Bold"/>
                <a:sym typeface="Canva Sans Bold"/>
              </a:rPr>
              <a:t> </a:t>
            </a:r>
            <a:r>
              <a:rPr lang="en-US" sz="2308" b="1" dirty="0" err="1">
                <a:solidFill>
                  <a:srgbClr val="C1E328"/>
                </a:solidFill>
                <a:latin typeface="Canva Sans Bold"/>
                <a:ea typeface="Canva Sans Bold"/>
                <a:cs typeface="Canva Sans Bold"/>
                <a:sym typeface="Canva Sans Bold"/>
              </a:rPr>
              <a:t>tiap</a:t>
            </a:r>
            <a:r>
              <a:rPr lang="en-US" sz="2308" b="1" dirty="0">
                <a:solidFill>
                  <a:srgbClr val="C1E328"/>
                </a:solidFill>
                <a:latin typeface="Canva Sans Bold"/>
                <a:ea typeface="Canva Sans Bold"/>
                <a:cs typeface="Canva Sans Bold"/>
                <a:sym typeface="Canva Sans Bold"/>
              </a:rPr>
              <a:t> brand </a:t>
            </a:r>
            <a:r>
              <a:rPr lang="en-US" sz="2308" b="1" dirty="0" err="1">
                <a:solidFill>
                  <a:srgbClr val="C1E328"/>
                </a:solidFill>
                <a:latin typeface="Canva Sans Bold"/>
                <a:ea typeface="Canva Sans Bold"/>
                <a:cs typeface="Canva Sans Bold"/>
                <a:sym typeface="Canva Sans Bold"/>
              </a:rPr>
              <a:t>boleh</a:t>
            </a:r>
            <a:r>
              <a:rPr lang="en-US" sz="2308" b="1" dirty="0">
                <a:solidFill>
                  <a:srgbClr val="C1E328"/>
                </a:solidFill>
                <a:latin typeface="Canva Sans Bold"/>
                <a:ea typeface="Canva Sans Bold"/>
                <a:cs typeface="Canva Sans Bold"/>
                <a:sym typeface="Canva Sans Bold"/>
              </a:rPr>
              <a:t> naik </a:t>
            </a:r>
            <a:r>
              <a:rPr lang="en-US" sz="2308" b="1" dirty="0" err="1">
                <a:solidFill>
                  <a:srgbClr val="C1E328"/>
                </a:solidFill>
                <a:latin typeface="Canva Sans Bold"/>
                <a:ea typeface="Canva Sans Bold"/>
                <a:cs typeface="Canva Sans Bold"/>
                <a:sym typeface="Canva Sans Bold"/>
              </a:rPr>
              <a:t>turun</a:t>
            </a:r>
            <a:r>
              <a:rPr lang="en-US" sz="2308" b="1" dirty="0">
                <a:solidFill>
                  <a:srgbClr val="C1E328"/>
                </a:solidFill>
                <a:latin typeface="Canva Sans Bold"/>
                <a:ea typeface="Canva Sans Bold"/>
                <a:cs typeface="Canva Sans Bold"/>
                <a:sym typeface="Canva Sans Bold"/>
              </a:rPr>
              <a:t> </a:t>
            </a:r>
            <a:r>
              <a:rPr lang="en-US" sz="2308" b="1" dirty="0" err="1">
                <a:solidFill>
                  <a:srgbClr val="C1E328"/>
                </a:solidFill>
                <a:latin typeface="Canva Sans Bold"/>
                <a:ea typeface="Canva Sans Bold"/>
                <a:cs typeface="Canva Sans Bold"/>
                <a:sym typeface="Canva Sans Bold"/>
              </a:rPr>
              <a:t>tiap</a:t>
            </a:r>
            <a:r>
              <a:rPr lang="en-US" sz="2308" b="1" dirty="0">
                <a:solidFill>
                  <a:srgbClr val="C1E328"/>
                </a:solidFill>
                <a:latin typeface="Canva Sans Bold"/>
                <a:ea typeface="Canva Sans Bold"/>
                <a:cs typeface="Canva Sans Bold"/>
                <a:sym typeface="Canva Sans Bold"/>
              </a:rPr>
              <a:t> </a:t>
            </a:r>
            <a:r>
              <a:rPr lang="en-US" sz="2308" b="1" dirty="0" err="1">
                <a:solidFill>
                  <a:srgbClr val="C1E328"/>
                </a:solidFill>
                <a:latin typeface="Canva Sans Bold"/>
                <a:ea typeface="Canva Sans Bold"/>
                <a:cs typeface="Canva Sans Bold"/>
                <a:sym typeface="Canva Sans Bold"/>
              </a:rPr>
              <a:t>bulan</a:t>
            </a:r>
            <a:r>
              <a:rPr lang="en-US" sz="2308" b="1" dirty="0">
                <a:solidFill>
                  <a:srgbClr val="C1E328"/>
                </a:solidFill>
                <a:latin typeface="Canva Sans Bold"/>
                <a:ea typeface="Canva Sans Bold"/>
                <a:cs typeface="Canva Sans Bold"/>
                <a:sym typeface="Canva Sans Bold"/>
              </a:rPr>
              <a:t>, </a:t>
            </a:r>
            <a:r>
              <a:rPr lang="en-US" sz="2308" b="1" dirty="0" err="1">
                <a:solidFill>
                  <a:srgbClr val="C1E328"/>
                </a:solidFill>
                <a:latin typeface="Canva Sans Bold"/>
                <a:ea typeface="Canva Sans Bold"/>
                <a:cs typeface="Canva Sans Bold"/>
                <a:sym typeface="Canva Sans Bold"/>
              </a:rPr>
              <a:t>tapi</a:t>
            </a:r>
            <a:r>
              <a:rPr lang="en-US" sz="2308" b="1" dirty="0">
                <a:solidFill>
                  <a:srgbClr val="C1E328"/>
                </a:solidFill>
                <a:latin typeface="Canva Sans Bold"/>
                <a:ea typeface="Canva Sans Bold"/>
                <a:cs typeface="Canva Sans Bold"/>
                <a:sym typeface="Canva Sans Bold"/>
              </a:rPr>
              <a:t> </a:t>
            </a:r>
            <a:r>
              <a:rPr lang="en-US" sz="2308" b="1" dirty="0" err="1">
                <a:solidFill>
                  <a:srgbClr val="C1E328"/>
                </a:solidFill>
                <a:latin typeface="Canva Sans Bold"/>
                <a:ea typeface="Canva Sans Bold"/>
                <a:cs typeface="Canva Sans Bold"/>
                <a:sym typeface="Canva Sans Bold"/>
              </a:rPr>
              <a:t>jumlah</a:t>
            </a:r>
            <a:r>
              <a:rPr lang="en-US" sz="2308" b="1" dirty="0">
                <a:solidFill>
                  <a:srgbClr val="C1E328"/>
                </a:solidFill>
                <a:latin typeface="Canva Sans Bold"/>
                <a:ea typeface="Canva Sans Bold"/>
                <a:cs typeface="Canva Sans Bold"/>
                <a:sym typeface="Canva Sans Bold"/>
              </a:rPr>
              <a:t> </a:t>
            </a:r>
            <a:r>
              <a:rPr lang="en-US" sz="2308" b="1" dirty="0" err="1">
                <a:solidFill>
                  <a:srgbClr val="C1E328"/>
                </a:solidFill>
                <a:latin typeface="Canva Sans Bold"/>
                <a:ea typeface="Canva Sans Bold"/>
                <a:cs typeface="Canva Sans Bold"/>
                <a:sym typeface="Canva Sans Bold"/>
              </a:rPr>
              <a:t>pelanggan</a:t>
            </a:r>
            <a:r>
              <a:rPr lang="en-US" sz="2308" b="1" dirty="0">
                <a:solidFill>
                  <a:srgbClr val="C1E328"/>
                </a:solidFill>
                <a:latin typeface="Canva Sans Bold"/>
                <a:ea typeface="Canva Sans Bold"/>
                <a:cs typeface="Canva Sans Bold"/>
                <a:sym typeface="Canva Sans Bold"/>
              </a:rPr>
              <a:t> </a:t>
            </a:r>
            <a:r>
              <a:rPr lang="en-US" sz="2308" b="1" dirty="0" err="1">
                <a:solidFill>
                  <a:srgbClr val="C1E328"/>
                </a:solidFill>
                <a:latin typeface="Canva Sans Bold"/>
                <a:ea typeface="Canva Sans Bold"/>
                <a:cs typeface="Canva Sans Bold"/>
                <a:sym typeface="Canva Sans Bold"/>
              </a:rPr>
              <a:t>belum</a:t>
            </a:r>
            <a:r>
              <a:rPr lang="en-US" sz="2308" b="1" dirty="0">
                <a:solidFill>
                  <a:srgbClr val="C1E328"/>
                </a:solidFill>
                <a:latin typeface="Canva Sans Bold"/>
                <a:ea typeface="Canva Sans Bold"/>
                <a:cs typeface="Canva Sans Bold"/>
                <a:sym typeface="Canva Sans Bold"/>
              </a:rPr>
              <a:t> </a:t>
            </a:r>
            <a:r>
              <a:rPr lang="en-US" sz="2308" b="1" dirty="0" err="1">
                <a:solidFill>
                  <a:srgbClr val="C1E328"/>
                </a:solidFill>
                <a:latin typeface="Canva Sans Bold"/>
                <a:ea typeface="Canva Sans Bold"/>
                <a:cs typeface="Canva Sans Bold"/>
                <a:sym typeface="Canva Sans Bold"/>
              </a:rPr>
              <a:t>tentu</a:t>
            </a:r>
            <a:r>
              <a:rPr lang="en-US" sz="2308" b="1" dirty="0">
                <a:solidFill>
                  <a:srgbClr val="C1E328"/>
                </a:solidFill>
                <a:latin typeface="Canva Sans Bold"/>
                <a:ea typeface="Canva Sans Bold"/>
                <a:cs typeface="Canva Sans Bold"/>
                <a:sym typeface="Canva Sans Bold"/>
              </a:rPr>
              <a:t>. </a:t>
            </a:r>
            <a:r>
              <a:rPr lang="en-US" sz="2308" b="1" i="1" dirty="0">
                <a:solidFill>
                  <a:srgbClr val="C1E328"/>
                </a:solidFill>
                <a:latin typeface="Canva Sans Bold Italics"/>
                <a:ea typeface="Canva Sans Bold Italics"/>
                <a:cs typeface="Canva Sans Bold Italics"/>
                <a:sym typeface="Canva Sans Bold Italics"/>
              </a:rPr>
              <a:t>The </a:t>
            </a:r>
            <a:r>
              <a:rPr lang="en-US" sz="2308" b="1" i="1" dirty="0" err="1">
                <a:solidFill>
                  <a:srgbClr val="C1E328"/>
                </a:solidFill>
                <a:latin typeface="Canva Sans Bold Italics"/>
                <a:ea typeface="Canva Sans Bold Italics"/>
                <a:cs typeface="Canva Sans Bold Italics"/>
                <a:sym typeface="Canva Sans Bold Italics"/>
              </a:rPr>
              <a:t>Originote</a:t>
            </a:r>
            <a:r>
              <a:rPr lang="en-US" sz="2308" b="1" dirty="0">
                <a:solidFill>
                  <a:srgbClr val="C1E328"/>
                </a:solidFill>
                <a:latin typeface="Canva Sans Bold"/>
                <a:ea typeface="Canva Sans Bold"/>
                <a:cs typeface="Canva Sans Bold"/>
                <a:sym typeface="Canva Sans Bold"/>
              </a:rPr>
              <a:t> </a:t>
            </a:r>
            <a:r>
              <a:rPr lang="en-US" sz="2308" b="1" dirty="0" err="1">
                <a:solidFill>
                  <a:srgbClr val="C1E328"/>
                </a:solidFill>
                <a:latin typeface="Canva Sans Bold"/>
                <a:ea typeface="Canva Sans Bold"/>
                <a:cs typeface="Canva Sans Bold"/>
                <a:sym typeface="Canva Sans Bold"/>
              </a:rPr>
              <a:t>adalah</a:t>
            </a:r>
            <a:r>
              <a:rPr lang="en-US" sz="2308" b="1" dirty="0">
                <a:solidFill>
                  <a:srgbClr val="C1E328"/>
                </a:solidFill>
                <a:latin typeface="Canva Sans Bold"/>
                <a:ea typeface="Canva Sans Bold"/>
                <a:cs typeface="Canva Sans Bold"/>
                <a:sym typeface="Canva Sans Bold"/>
              </a:rPr>
              <a:t> brand </a:t>
            </a:r>
            <a:r>
              <a:rPr lang="en-US" sz="2308" b="1" dirty="0" err="1">
                <a:solidFill>
                  <a:srgbClr val="C1E328"/>
                </a:solidFill>
                <a:latin typeface="Canva Sans Bold"/>
                <a:ea typeface="Canva Sans Bold"/>
                <a:cs typeface="Canva Sans Bold"/>
                <a:sym typeface="Canva Sans Bold"/>
              </a:rPr>
              <a:t>dengan</a:t>
            </a:r>
            <a:r>
              <a:rPr lang="en-US" sz="2308" b="1" dirty="0">
                <a:solidFill>
                  <a:srgbClr val="C1E328"/>
                </a:solidFill>
                <a:latin typeface="Canva Sans Bold"/>
                <a:ea typeface="Canva Sans Bold"/>
                <a:cs typeface="Canva Sans Bold"/>
                <a:sym typeface="Canva Sans Bold"/>
              </a:rPr>
              <a:t> </a:t>
            </a:r>
            <a:r>
              <a:rPr lang="en-US" sz="2308" b="1" dirty="0" err="1">
                <a:solidFill>
                  <a:srgbClr val="C1E328"/>
                </a:solidFill>
                <a:latin typeface="Canva Sans Bold"/>
                <a:ea typeface="Canva Sans Bold"/>
                <a:cs typeface="Canva Sans Bold"/>
                <a:sym typeface="Canva Sans Bold"/>
              </a:rPr>
              <a:t>persentase</a:t>
            </a:r>
            <a:r>
              <a:rPr lang="en-US" sz="2308" b="1" dirty="0">
                <a:solidFill>
                  <a:srgbClr val="C1E328"/>
                </a:solidFill>
                <a:latin typeface="Canva Sans Bold"/>
                <a:ea typeface="Canva Sans Bold"/>
                <a:cs typeface="Canva Sans Bold"/>
                <a:sym typeface="Canva Sans Bold"/>
              </a:rPr>
              <a:t> market penetration </a:t>
            </a:r>
            <a:r>
              <a:rPr lang="en-US" sz="2308" b="1" dirty="0" err="1">
                <a:solidFill>
                  <a:srgbClr val="C1E328"/>
                </a:solidFill>
                <a:latin typeface="Canva Sans Bold"/>
                <a:ea typeface="Canva Sans Bold"/>
                <a:cs typeface="Canva Sans Bold"/>
                <a:sym typeface="Canva Sans Bold"/>
              </a:rPr>
              <a:t>tertinggi</a:t>
            </a:r>
            <a:r>
              <a:rPr lang="en-US" sz="2308" b="1" dirty="0">
                <a:solidFill>
                  <a:srgbClr val="C1E328"/>
                </a:solidFill>
                <a:latin typeface="Canva Sans Bold"/>
                <a:ea typeface="Canva Sans Bold"/>
                <a:cs typeface="Canva Sans Bold"/>
                <a:sym typeface="Canva Sans Bold"/>
              </a:rPr>
              <a:t> </a:t>
            </a:r>
            <a:r>
              <a:rPr lang="en-US" sz="2308" b="1" dirty="0" err="1">
                <a:solidFill>
                  <a:srgbClr val="C1E328"/>
                </a:solidFill>
                <a:latin typeface="Canva Sans Bold"/>
                <a:ea typeface="Canva Sans Bold"/>
                <a:cs typeface="Canva Sans Bold"/>
                <a:sym typeface="Canva Sans Bold"/>
              </a:rPr>
              <a:t>dibandingkan</a:t>
            </a:r>
            <a:r>
              <a:rPr lang="en-US" sz="2308" b="1" dirty="0">
                <a:solidFill>
                  <a:srgbClr val="C1E328"/>
                </a:solidFill>
                <a:latin typeface="Canva Sans Bold"/>
                <a:ea typeface="Canva Sans Bold"/>
                <a:cs typeface="Canva Sans Bold"/>
                <a:sym typeface="Canva Sans Bold"/>
              </a:rPr>
              <a:t> brand lain. Brand </a:t>
            </a:r>
            <a:r>
              <a:rPr lang="en-US" sz="2308" b="1" dirty="0" err="1">
                <a:solidFill>
                  <a:srgbClr val="C1E328"/>
                </a:solidFill>
                <a:latin typeface="Canva Sans Bold"/>
                <a:ea typeface="Canva Sans Bold"/>
                <a:cs typeface="Canva Sans Bold"/>
                <a:sym typeface="Canva Sans Bold"/>
              </a:rPr>
              <a:t>ini</a:t>
            </a:r>
            <a:r>
              <a:rPr lang="en-US" sz="2308" b="1" dirty="0">
                <a:solidFill>
                  <a:srgbClr val="C1E328"/>
                </a:solidFill>
                <a:latin typeface="Canva Sans Bold"/>
                <a:ea typeface="Canva Sans Bold"/>
                <a:cs typeface="Canva Sans Bold"/>
                <a:sym typeface="Canva Sans Bold"/>
              </a:rPr>
              <a:t> </a:t>
            </a:r>
            <a:r>
              <a:rPr lang="en-US" sz="2308" b="1" dirty="0" err="1">
                <a:solidFill>
                  <a:srgbClr val="C1E328"/>
                </a:solidFill>
                <a:latin typeface="Canva Sans Bold"/>
                <a:ea typeface="Canva Sans Bold"/>
                <a:cs typeface="Canva Sans Bold"/>
                <a:sym typeface="Canva Sans Bold"/>
              </a:rPr>
              <a:t>memiliki</a:t>
            </a:r>
            <a:r>
              <a:rPr lang="en-US" sz="2308" b="1" dirty="0">
                <a:solidFill>
                  <a:srgbClr val="C1E328"/>
                </a:solidFill>
                <a:latin typeface="Canva Sans Bold"/>
                <a:ea typeface="Canva Sans Bold"/>
                <a:cs typeface="Canva Sans Bold"/>
                <a:sym typeface="Canva Sans Bold"/>
              </a:rPr>
              <a:t> 1,1 </a:t>
            </a:r>
            <a:r>
              <a:rPr lang="en-US" sz="2308" b="1" dirty="0" err="1">
                <a:solidFill>
                  <a:srgbClr val="C1E328"/>
                </a:solidFill>
                <a:latin typeface="Canva Sans Bold"/>
                <a:ea typeface="Canva Sans Bold"/>
                <a:cs typeface="Canva Sans Bold"/>
                <a:sym typeface="Canva Sans Bold"/>
              </a:rPr>
              <a:t>juta</a:t>
            </a:r>
            <a:r>
              <a:rPr lang="en-US" sz="2308" b="1" dirty="0">
                <a:solidFill>
                  <a:srgbClr val="C1E328"/>
                </a:solidFill>
                <a:latin typeface="Canva Sans Bold"/>
                <a:ea typeface="Canva Sans Bold"/>
                <a:cs typeface="Canva Sans Bold"/>
                <a:sym typeface="Canva Sans Bold"/>
              </a:rPr>
              <a:t> </a:t>
            </a:r>
            <a:r>
              <a:rPr lang="en-US" sz="2308" b="1" dirty="0" err="1">
                <a:solidFill>
                  <a:srgbClr val="C1E328"/>
                </a:solidFill>
                <a:latin typeface="Canva Sans Bold"/>
                <a:ea typeface="Canva Sans Bold"/>
                <a:cs typeface="Canva Sans Bold"/>
                <a:sym typeface="Canva Sans Bold"/>
              </a:rPr>
              <a:t>pelanggan</a:t>
            </a:r>
            <a:r>
              <a:rPr lang="en-US" sz="2308" b="1" dirty="0">
                <a:solidFill>
                  <a:srgbClr val="C1E328"/>
                </a:solidFill>
                <a:latin typeface="Canva Sans Bold"/>
                <a:ea typeface="Canva Sans Bold"/>
                <a:cs typeface="Canva Sans Bold"/>
                <a:sym typeface="Canva Sans Bold"/>
              </a:rPr>
              <a:t>!</a:t>
            </a:r>
          </a:p>
        </p:txBody>
      </p:sp>
      <p:sp>
        <p:nvSpPr>
          <p:cNvPr id="5" name="TextBox 5"/>
          <p:cNvSpPr txBox="1"/>
          <p:nvPr/>
        </p:nvSpPr>
        <p:spPr>
          <a:xfrm>
            <a:off x="145094" y="9743078"/>
            <a:ext cx="17721067" cy="462056"/>
          </a:xfrm>
          <a:prstGeom prst="rect">
            <a:avLst/>
          </a:prstGeom>
        </p:spPr>
        <p:txBody>
          <a:bodyPr lIns="0" tIns="0" rIns="0" bIns="0" rtlCol="0" anchor="t">
            <a:spAutoFit/>
          </a:bodyPr>
          <a:lstStyle/>
          <a:p>
            <a:pPr marL="0" lvl="0" indent="0" algn="just">
              <a:lnSpc>
                <a:spcPts val="1832"/>
              </a:lnSpc>
              <a:spcBef>
                <a:spcPct val="0"/>
              </a:spcBef>
            </a:pPr>
            <a:r>
              <a:rPr lang="en-US" sz="1308" b="1" dirty="0" err="1">
                <a:solidFill>
                  <a:srgbClr val="C1E328"/>
                </a:solidFill>
                <a:latin typeface="Canva Sans Bold"/>
                <a:ea typeface="Canva Sans Bold"/>
                <a:cs typeface="Canva Sans Bold"/>
                <a:sym typeface="Canva Sans Bold"/>
              </a:rPr>
              <a:t>Catatan</a:t>
            </a:r>
            <a:r>
              <a:rPr lang="en-US" sz="1308" b="1" dirty="0">
                <a:solidFill>
                  <a:srgbClr val="C1E328"/>
                </a:solidFill>
                <a:latin typeface="Canva Sans Bold"/>
                <a:ea typeface="Canva Sans Bold"/>
                <a:cs typeface="Canva Sans Bold"/>
                <a:sym typeface="Canva Sans Bold"/>
              </a:rPr>
              <a:t> : </a:t>
            </a:r>
            <a:r>
              <a:rPr lang="en-US" sz="1308" b="1" dirty="0" err="1">
                <a:solidFill>
                  <a:srgbClr val="C1E328"/>
                </a:solidFill>
                <a:latin typeface="Canva Sans Bold"/>
                <a:ea typeface="Canva Sans Bold"/>
                <a:cs typeface="Canva Sans Bold"/>
                <a:sym typeface="Canva Sans Bold"/>
              </a:rPr>
              <a:t>Perhitungan</a:t>
            </a:r>
            <a:r>
              <a:rPr lang="en-US" sz="1308" b="1" dirty="0">
                <a:solidFill>
                  <a:srgbClr val="C1E328"/>
                </a:solidFill>
                <a:latin typeface="Canva Sans Bold"/>
                <a:ea typeface="Canva Sans Bold"/>
                <a:cs typeface="Canva Sans Bold"/>
                <a:sym typeface="Canva Sans Bold"/>
              </a:rPr>
              <a:t> Market Penetration </a:t>
            </a:r>
            <a:r>
              <a:rPr lang="en-US" sz="1308" b="1" dirty="0" err="1">
                <a:solidFill>
                  <a:srgbClr val="C1E328"/>
                </a:solidFill>
                <a:latin typeface="Canva Sans Bold"/>
                <a:ea typeface="Canva Sans Bold"/>
                <a:cs typeface="Canva Sans Bold"/>
                <a:sym typeface="Canva Sans Bold"/>
              </a:rPr>
              <a:t>dihitung</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berdasarkan</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jumlah</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ulasan</a:t>
            </a:r>
            <a:r>
              <a:rPr lang="en-US" sz="1308" b="1" dirty="0">
                <a:solidFill>
                  <a:srgbClr val="C1E328"/>
                </a:solidFill>
                <a:latin typeface="Canva Sans Bold"/>
                <a:ea typeface="Canva Sans Bold"/>
                <a:cs typeface="Canva Sans Bold"/>
                <a:sym typeface="Canva Sans Bold"/>
              </a:rPr>
              <a:t> yang </a:t>
            </a:r>
            <a:r>
              <a:rPr lang="en-US" sz="1308" b="1" dirty="0" err="1">
                <a:solidFill>
                  <a:srgbClr val="C1E328"/>
                </a:solidFill>
                <a:latin typeface="Canva Sans Bold"/>
                <a:ea typeface="Canva Sans Bold"/>
                <a:cs typeface="Canva Sans Bold"/>
                <a:sym typeface="Canva Sans Bold"/>
              </a:rPr>
              <a:t>diterima</a:t>
            </a:r>
            <a:r>
              <a:rPr lang="en-US" sz="1308" b="1" dirty="0">
                <a:solidFill>
                  <a:srgbClr val="C1E328"/>
                </a:solidFill>
                <a:latin typeface="Canva Sans Bold"/>
                <a:ea typeface="Canva Sans Bold"/>
                <a:cs typeface="Canva Sans Bold"/>
                <a:sym typeface="Canva Sans Bold"/>
              </a:rPr>
              <a:t> oleh </a:t>
            </a:r>
            <a:r>
              <a:rPr lang="en-US" sz="1308" b="1" dirty="0" err="1">
                <a:solidFill>
                  <a:srgbClr val="C1E328"/>
                </a:solidFill>
                <a:latin typeface="Canva Sans Bold"/>
                <a:ea typeface="Canva Sans Bold"/>
                <a:cs typeface="Canva Sans Bold"/>
                <a:sym typeface="Canva Sans Bold"/>
              </a:rPr>
              <a:t>tiap</a:t>
            </a:r>
            <a:r>
              <a:rPr lang="en-US" sz="1308" b="1" dirty="0">
                <a:solidFill>
                  <a:srgbClr val="C1E328"/>
                </a:solidFill>
                <a:latin typeface="Canva Sans Bold"/>
                <a:ea typeface="Canva Sans Bold"/>
                <a:cs typeface="Canva Sans Bold"/>
                <a:sym typeface="Canva Sans Bold"/>
              </a:rPr>
              <a:t> brand di </a:t>
            </a:r>
            <a:r>
              <a:rPr lang="en-US" sz="1308" b="1" dirty="0" err="1">
                <a:solidFill>
                  <a:srgbClr val="C1E328"/>
                </a:solidFill>
                <a:latin typeface="Canva Sans Bold"/>
                <a:ea typeface="Canva Sans Bold"/>
                <a:cs typeface="Canva Sans Bold"/>
                <a:sym typeface="Canva Sans Bold"/>
              </a:rPr>
              <a:t>tiap</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produk</a:t>
            </a:r>
            <a:r>
              <a:rPr lang="en-US" sz="1308" b="1" dirty="0">
                <a:solidFill>
                  <a:srgbClr val="C1E328"/>
                </a:solidFill>
                <a:latin typeface="Canva Sans Bold"/>
                <a:ea typeface="Canva Sans Bold"/>
                <a:cs typeface="Canva Sans Bold"/>
                <a:sym typeface="Canva Sans Bold"/>
              </a:rPr>
              <a:t> yang </a:t>
            </a:r>
            <a:r>
              <a:rPr lang="en-US" sz="1308" b="1" dirty="0" err="1">
                <a:solidFill>
                  <a:srgbClr val="C1E328"/>
                </a:solidFill>
                <a:latin typeface="Canva Sans Bold"/>
                <a:ea typeface="Canva Sans Bold"/>
                <a:cs typeface="Canva Sans Bold"/>
                <a:sym typeface="Canva Sans Bold"/>
              </a:rPr>
              <a:t>mereka</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jual</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Jumlah</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ulasan</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hanya</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bisa</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ditulis</a:t>
            </a:r>
            <a:r>
              <a:rPr lang="en-US" sz="1308" b="1" dirty="0">
                <a:solidFill>
                  <a:srgbClr val="C1E328"/>
                </a:solidFill>
                <a:latin typeface="Canva Sans Bold"/>
                <a:ea typeface="Canva Sans Bold"/>
                <a:cs typeface="Canva Sans Bold"/>
                <a:sym typeface="Canva Sans Bold"/>
              </a:rPr>
              <a:t> 1x oleh 1 </a:t>
            </a:r>
            <a:r>
              <a:rPr lang="en-US" sz="1308" b="1" dirty="0" err="1">
                <a:solidFill>
                  <a:srgbClr val="C1E328"/>
                </a:solidFill>
                <a:latin typeface="Canva Sans Bold"/>
                <a:ea typeface="Canva Sans Bold"/>
                <a:cs typeface="Canva Sans Bold"/>
                <a:sym typeface="Canva Sans Bold"/>
              </a:rPr>
              <a:t>akun</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Variabel</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ini</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cocok</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untuk</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mengaproksimasi</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jumlah</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pelanggan</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asli</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dari</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tiap</a:t>
            </a:r>
            <a:r>
              <a:rPr lang="en-US" sz="1308" b="1" dirty="0">
                <a:solidFill>
                  <a:srgbClr val="C1E328"/>
                </a:solidFill>
                <a:latin typeface="Canva Sans Bold"/>
                <a:ea typeface="Canva Sans Bold"/>
                <a:cs typeface="Canva Sans Bold"/>
                <a:sym typeface="Canva Sans Bold"/>
              </a:rPr>
              <a:t> brand. </a:t>
            </a:r>
            <a:r>
              <a:rPr lang="en-US" sz="1308" b="1" dirty="0" err="1">
                <a:solidFill>
                  <a:srgbClr val="C1E328"/>
                </a:solidFill>
                <a:latin typeface="Canva Sans Bold"/>
                <a:ea typeface="Canva Sans Bold"/>
                <a:cs typeface="Canva Sans Bold"/>
                <a:sym typeface="Canva Sans Bold"/>
              </a:rPr>
              <a:t>Perhitunga</a:t>
            </a:r>
            <a:r>
              <a:rPr lang="en-US" sz="1308" b="1" dirty="0">
                <a:solidFill>
                  <a:srgbClr val="C1E328"/>
                </a:solidFill>
                <a:latin typeface="Canva Sans Bold"/>
                <a:ea typeface="Canva Sans Bold"/>
                <a:cs typeface="Canva Sans Bold"/>
                <a:sym typeface="Canva Sans Bold"/>
              </a:rPr>
              <a:t> market penetration </a:t>
            </a:r>
            <a:r>
              <a:rPr lang="en-US" sz="1308" b="1" dirty="0" err="1">
                <a:solidFill>
                  <a:srgbClr val="C1E328"/>
                </a:solidFill>
                <a:latin typeface="Canva Sans Bold"/>
                <a:ea typeface="Canva Sans Bold"/>
                <a:cs typeface="Canva Sans Bold"/>
                <a:sym typeface="Canva Sans Bold"/>
              </a:rPr>
              <a:t>dihitung</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sejak</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awal</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toko</a:t>
            </a:r>
            <a:r>
              <a:rPr lang="en-US" sz="1308" b="1" dirty="0">
                <a:solidFill>
                  <a:srgbClr val="C1E328"/>
                </a:solidFill>
                <a:latin typeface="Canva Sans Bold"/>
                <a:ea typeface="Canva Sans Bold"/>
                <a:cs typeface="Canva Sans Bold"/>
                <a:sym typeface="Canva Sans Bold"/>
              </a:rPr>
              <a:t> </a:t>
            </a:r>
            <a:r>
              <a:rPr lang="en-US" sz="1308" b="1" dirty="0" err="1">
                <a:solidFill>
                  <a:srgbClr val="C1E328"/>
                </a:solidFill>
                <a:latin typeface="Canva Sans Bold"/>
                <a:ea typeface="Canva Sans Bold"/>
                <a:cs typeface="Canva Sans Bold"/>
                <a:sym typeface="Canva Sans Bold"/>
              </a:rPr>
              <a:t>berdiri</a:t>
            </a:r>
            <a:r>
              <a:rPr lang="en-US" sz="1308" b="1" dirty="0">
                <a:solidFill>
                  <a:srgbClr val="C1E328"/>
                </a:solidFill>
                <a:latin typeface="Canva Sans Bold"/>
                <a:ea typeface="Canva Sans Bold"/>
                <a:cs typeface="Canva Sans Bold"/>
                <a:sym typeface="Canva Sans Bold"/>
              </a:rPr>
              <a:t> di Shopee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842256" cy="694610"/>
          </a:xfrm>
          <a:custGeom>
            <a:avLst/>
            <a:gdLst/>
            <a:ahLst/>
            <a:cxnLst/>
            <a:rect l="l" t="t" r="r" b="b"/>
            <a:pathLst>
              <a:path w="842256" h="694610">
                <a:moveTo>
                  <a:pt x="0" y="0"/>
                </a:moveTo>
                <a:lnTo>
                  <a:pt x="842256" y="0"/>
                </a:lnTo>
                <a:lnTo>
                  <a:pt x="842256" y="694610"/>
                </a:lnTo>
                <a:lnTo>
                  <a:pt x="0" y="6946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3605388" y="2265060"/>
            <a:ext cx="10744524" cy="2583988"/>
            <a:chOff x="0" y="0"/>
            <a:chExt cx="1664608" cy="400327"/>
          </a:xfrm>
        </p:grpSpPr>
        <p:sp>
          <p:nvSpPr>
            <p:cNvPr id="4" name="Freeform 4"/>
            <p:cNvSpPr/>
            <p:nvPr/>
          </p:nvSpPr>
          <p:spPr>
            <a:xfrm>
              <a:off x="0" y="0"/>
              <a:ext cx="1664608" cy="400327"/>
            </a:xfrm>
            <a:custGeom>
              <a:avLst/>
              <a:gdLst/>
              <a:ahLst/>
              <a:cxnLst/>
              <a:rect l="l" t="t" r="r" b="b"/>
              <a:pathLst>
                <a:path w="1664608" h="400327">
                  <a:moveTo>
                    <a:pt x="0" y="0"/>
                  </a:moveTo>
                  <a:lnTo>
                    <a:pt x="1664608" y="0"/>
                  </a:lnTo>
                  <a:lnTo>
                    <a:pt x="1664608" y="400327"/>
                  </a:lnTo>
                  <a:lnTo>
                    <a:pt x="0" y="400327"/>
                  </a:lnTo>
                  <a:close/>
                </a:path>
              </a:pathLst>
            </a:custGeom>
            <a:blipFill>
              <a:blip r:embed="rId4"/>
              <a:stretch>
                <a:fillRect t="-142393" b="-35160"/>
              </a:stretch>
            </a:blipFill>
          </p:spPr>
        </p:sp>
      </p:grpSp>
      <p:sp>
        <p:nvSpPr>
          <p:cNvPr id="5" name="Freeform 5"/>
          <p:cNvSpPr/>
          <p:nvPr/>
        </p:nvSpPr>
        <p:spPr>
          <a:xfrm rot="5400000">
            <a:off x="617721" y="8005064"/>
            <a:ext cx="1666940" cy="839531"/>
          </a:xfrm>
          <a:custGeom>
            <a:avLst/>
            <a:gdLst/>
            <a:ahLst/>
            <a:cxnLst/>
            <a:rect l="l" t="t" r="r" b="b"/>
            <a:pathLst>
              <a:path w="1666940" h="839531">
                <a:moveTo>
                  <a:pt x="0" y="0"/>
                </a:moveTo>
                <a:lnTo>
                  <a:pt x="1666939" y="0"/>
                </a:lnTo>
                <a:lnTo>
                  <a:pt x="1666939" y="839532"/>
                </a:lnTo>
                <a:lnTo>
                  <a:pt x="0" y="83953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2217266" y="1200935"/>
            <a:ext cx="6760384" cy="331089"/>
          </a:xfrm>
          <a:prstGeom prst="rect">
            <a:avLst/>
          </a:prstGeom>
        </p:spPr>
        <p:txBody>
          <a:bodyPr lIns="0" tIns="0" rIns="0" bIns="0" rtlCol="0" anchor="t">
            <a:spAutoFit/>
          </a:bodyPr>
          <a:lstStyle/>
          <a:p>
            <a:pPr algn="just">
              <a:lnSpc>
                <a:spcPts val="2688"/>
              </a:lnSpc>
            </a:pPr>
            <a:r>
              <a:rPr lang="en-US" sz="2100" b="1" spc="98">
                <a:solidFill>
                  <a:srgbClr val="C1E328"/>
                </a:solidFill>
                <a:latin typeface="Open Sauce Bold"/>
                <a:ea typeface="Open Sauce Bold"/>
                <a:cs typeface="Open Sauce Bold"/>
                <a:sym typeface="Open Sauce Bold"/>
              </a:rPr>
              <a:t>PT NOSE HERBALINDO</a:t>
            </a:r>
          </a:p>
        </p:txBody>
      </p:sp>
      <p:sp>
        <p:nvSpPr>
          <p:cNvPr id="7" name="TextBox 7"/>
          <p:cNvSpPr txBox="1"/>
          <p:nvPr/>
        </p:nvSpPr>
        <p:spPr>
          <a:xfrm>
            <a:off x="4854939" y="5362575"/>
            <a:ext cx="8578121" cy="4141979"/>
          </a:xfrm>
          <a:prstGeom prst="rect">
            <a:avLst/>
          </a:prstGeom>
        </p:spPr>
        <p:txBody>
          <a:bodyPr lIns="0" tIns="0" rIns="0" bIns="0" rtlCol="0" anchor="t">
            <a:spAutoFit/>
          </a:bodyPr>
          <a:lstStyle/>
          <a:p>
            <a:pPr algn="ctr">
              <a:lnSpc>
                <a:spcPts val="8094"/>
              </a:lnSpc>
            </a:pPr>
            <a:r>
              <a:rPr lang="en-US" sz="8611" b="1" spc="-180">
                <a:solidFill>
                  <a:srgbClr val="C1E328"/>
                </a:solidFill>
                <a:latin typeface="Open Sauce Bold"/>
                <a:ea typeface="Open Sauce Bold"/>
                <a:cs typeface="Open Sauce Bold"/>
                <a:sym typeface="Open Sauce Bold"/>
              </a:rPr>
              <a:t>BRAND OVERVIEW</a:t>
            </a:r>
          </a:p>
          <a:p>
            <a:pPr algn="ctr">
              <a:lnSpc>
                <a:spcPts val="8094"/>
              </a:lnSpc>
            </a:pPr>
            <a:r>
              <a:rPr lang="en-US" sz="8611" b="1" spc="-180">
                <a:solidFill>
                  <a:srgbClr val="C1E328"/>
                </a:solidFill>
                <a:latin typeface="Open Sauce Bold"/>
                <a:ea typeface="Open Sauce Bold"/>
                <a:cs typeface="Open Sauce Bold"/>
                <a:sym typeface="Open Sauce Bold"/>
              </a:rPr>
              <a:t>(STRENGTH &amp; WEAKNESSES)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Freeform 2"/>
          <p:cNvSpPr/>
          <p:nvPr/>
        </p:nvSpPr>
        <p:spPr>
          <a:xfrm>
            <a:off x="294607" y="2327234"/>
            <a:ext cx="7751737" cy="5421576"/>
          </a:xfrm>
          <a:custGeom>
            <a:avLst/>
            <a:gdLst/>
            <a:ahLst/>
            <a:cxnLst/>
            <a:rect l="l" t="t" r="r" b="b"/>
            <a:pathLst>
              <a:path w="7751737" h="5421576">
                <a:moveTo>
                  <a:pt x="0" y="0"/>
                </a:moveTo>
                <a:lnTo>
                  <a:pt x="7751738" y="0"/>
                </a:lnTo>
                <a:lnTo>
                  <a:pt x="7751738" y="5421576"/>
                </a:lnTo>
                <a:lnTo>
                  <a:pt x="0" y="5421576"/>
                </a:lnTo>
                <a:lnTo>
                  <a:pt x="0" y="0"/>
                </a:lnTo>
                <a:close/>
              </a:path>
            </a:pathLst>
          </a:custGeom>
          <a:blipFill>
            <a:blip r:embed="rId2"/>
            <a:stretch>
              <a:fillRect l="-4738" t="-447" r="-640"/>
            </a:stretch>
          </a:blipFill>
        </p:spPr>
      </p:sp>
      <p:sp>
        <p:nvSpPr>
          <p:cNvPr id="3" name="TextBox 3"/>
          <p:cNvSpPr txBox="1"/>
          <p:nvPr/>
        </p:nvSpPr>
        <p:spPr>
          <a:xfrm>
            <a:off x="668524" y="400931"/>
            <a:ext cx="14409981" cy="1341262"/>
          </a:xfrm>
          <a:prstGeom prst="rect">
            <a:avLst/>
          </a:prstGeom>
        </p:spPr>
        <p:txBody>
          <a:bodyPr lIns="0" tIns="0" rIns="0" bIns="0" rtlCol="0" anchor="t">
            <a:spAutoFit/>
          </a:bodyPr>
          <a:lstStyle/>
          <a:p>
            <a:pPr algn="l">
              <a:lnSpc>
                <a:spcPts val="3454"/>
              </a:lnSpc>
            </a:pPr>
            <a:r>
              <a:rPr lang="en-US" sz="3675" b="1" spc="-77">
                <a:solidFill>
                  <a:srgbClr val="C1E328"/>
                </a:solidFill>
                <a:latin typeface="Open Sauce Bold"/>
                <a:ea typeface="Open Sauce Bold"/>
                <a:cs typeface="Open Sauce Bold"/>
                <a:sym typeface="Open Sauce Bold"/>
              </a:rPr>
              <a:t>VARIAN YANG BANYAK, PRODUKNYA BANYAK DIJUAL RESELLER, DENGAN HARGA YANG RENDAH MEMBUAT SKINTIFIC SUSAH DIJATUHKAN!</a:t>
            </a:r>
          </a:p>
        </p:txBody>
      </p:sp>
      <p:sp>
        <p:nvSpPr>
          <p:cNvPr id="4" name="TextBox 4"/>
          <p:cNvSpPr txBox="1"/>
          <p:nvPr/>
        </p:nvSpPr>
        <p:spPr>
          <a:xfrm>
            <a:off x="8859537" y="1694569"/>
            <a:ext cx="8786181" cy="1217706"/>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Varian Produk Skintific bisa dikatakan melimpah! Dengan varian produk sebanyak ini customer bisa menyesuaikan kondisi dompet dengan produk yang ingin dibeli</a:t>
            </a:r>
          </a:p>
        </p:txBody>
      </p:sp>
      <p:sp>
        <p:nvSpPr>
          <p:cNvPr id="5" name="TextBox 5"/>
          <p:cNvSpPr txBox="1"/>
          <p:nvPr/>
        </p:nvSpPr>
        <p:spPr>
          <a:xfrm>
            <a:off x="8859537" y="4998067"/>
            <a:ext cx="8786181" cy="1217706"/>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Ratingnya berada di level menengah. Ini adalah konsekuensi dari brand yang memiliki banyak pelanggan. Karena.. kita tidak bisa menyenangkan semua orang kan?</a:t>
            </a:r>
          </a:p>
        </p:txBody>
      </p:sp>
      <p:sp>
        <p:nvSpPr>
          <p:cNvPr id="6" name="TextBox 6"/>
          <p:cNvSpPr txBox="1"/>
          <p:nvPr/>
        </p:nvSpPr>
        <p:spPr>
          <a:xfrm>
            <a:off x="8859537" y="3377734"/>
            <a:ext cx="8786181" cy="1217706"/>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Jumlah reseller yang banyak menunjukkan bahwa produk Skintific bisa ditemukan dimanapun, tak harus beli di </a:t>
            </a:r>
            <a:r>
              <a:rPr lang="en-US" sz="2308" b="1" i="1">
                <a:solidFill>
                  <a:srgbClr val="C1E328"/>
                </a:solidFill>
                <a:latin typeface="Canva Sans Bold Italics"/>
                <a:ea typeface="Canva Sans Bold Italics"/>
                <a:cs typeface="Canva Sans Bold Italics"/>
                <a:sym typeface="Canva Sans Bold Italics"/>
              </a:rPr>
              <a:t>Official Store</a:t>
            </a:r>
            <a:r>
              <a:rPr lang="en-US" sz="2308" b="1">
                <a:solidFill>
                  <a:srgbClr val="C1E328"/>
                </a:solidFill>
                <a:latin typeface="Canva Sans Bold"/>
                <a:ea typeface="Canva Sans Bold"/>
                <a:cs typeface="Canva Sans Bold"/>
                <a:sym typeface="Canva Sans Bold"/>
              </a:rPr>
              <a:t>! </a:t>
            </a:r>
          </a:p>
        </p:txBody>
      </p:sp>
      <p:sp>
        <p:nvSpPr>
          <p:cNvPr id="7" name="TextBox 7"/>
          <p:cNvSpPr txBox="1"/>
          <p:nvPr/>
        </p:nvSpPr>
        <p:spPr>
          <a:xfrm>
            <a:off x="8859537" y="6513193"/>
            <a:ext cx="8786181" cy="162728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Harga rata-rata dan </a:t>
            </a:r>
            <a:r>
              <a:rPr lang="en-US" sz="2308" b="1" i="1">
                <a:solidFill>
                  <a:srgbClr val="C1E328"/>
                </a:solidFill>
                <a:latin typeface="Canva Sans Bold Italics"/>
                <a:ea typeface="Canva Sans Bold Italics"/>
                <a:cs typeface="Canva Sans Bold Italics"/>
                <a:sym typeface="Canva Sans Bold Italics"/>
              </a:rPr>
              <a:t>Average Selling Price</a:t>
            </a:r>
            <a:r>
              <a:rPr lang="en-US" sz="2308" b="1">
                <a:solidFill>
                  <a:srgbClr val="C1E328"/>
                </a:solidFill>
                <a:latin typeface="Canva Sans Bold"/>
                <a:ea typeface="Canva Sans Bold"/>
                <a:cs typeface="Canva Sans Bold"/>
                <a:sym typeface="Canva Sans Bold"/>
              </a:rPr>
              <a:t> sinkron! Semuanya berada di posisi terendah. Menunjukkan bahwa Skintific sangat mengerti kondisi pasar Indonesia. Di Indonesia, Semakin Murah Semakin Laris!</a:t>
            </a:r>
          </a:p>
        </p:txBody>
      </p:sp>
      <p:sp>
        <p:nvSpPr>
          <p:cNvPr id="8" name="TextBox 8"/>
          <p:cNvSpPr txBox="1"/>
          <p:nvPr/>
        </p:nvSpPr>
        <p:spPr>
          <a:xfrm>
            <a:off x="203572" y="8445274"/>
            <a:ext cx="17719158" cy="1044831"/>
          </a:xfrm>
          <a:prstGeom prst="rect">
            <a:avLst/>
          </a:prstGeom>
        </p:spPr>
        <p:txBody>
          <a:bodyPr lIns="0" tIns="0" rIns="0" bIns="0" rtlCol="0" anchor="t">
            <a:spAutoFit/>
          </a:bodyPr>
          <a:lstStyle/>
          <a:p>
            <a:pPr marL="0" lvl="0" indent="0" algn="just">
              <a:lnSpc>
                <a:spcPts val="2785"/>
              </a:lnSpc>
              <a:spcBef>
                <a:spcPct val="0"/>
              </a:spcBef>
            </a:pPr>
            <a:r>
              <a:rPr lang="en-US" sz="1989" b="1">
                <a:solidFill>
                  <a:srgbClr val="C1E328"/>
                </a:solidFill>
                <a:latin typeface="Canva Sans Bold"/>
                <a:ea typeface="Canva Sans Bold"/>
                <a:cs typeface="Canva Sans Bold"/>
                <a:sym typeface="Canva Sans Bold"/>
              </a:rPr>
              <a:t>Kesimpulan : Brand ini brand yang kuat dan sulit disalip. Variasi produk Skintific yang melimpah dan juga jumlah resellernya yang banyak menyebabkan produknya dapat ditemui dimanapun sehingga customer lebih mudah membelinya. Ditambah lagi dengan harganya yang relatif rendah. Brand ini bisa dengan mudah disukai oleh banyak customer!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Freeform 2"/>
          <p:cNvSpPr/>
          <p:nvPr/>
        </p:nvSpPr>
        <p:spPr>
          <a:xfrm>
            <a:off x="164317" y="2423090"/>
            <a:ext cx="8558618" cy="5705745"/>
          </a:xfrm>
          <a:custGeom>
            <a:avLst/>
            <a:gdLst/>
            <a:ahLst/>
            <a:cxnLst/>
            <a:rect l="l" t="t" r="r" b="b"/>
            <a:pathLst>
              <a:path w="8558618" h="5705745">
                <a:moveTo>
                  <a:pt x="0" y="0"/>
                </a:moveTo>
                <a:lnTo>
                  <a:pt x="8558618" y="0"/>
                </a:lnTo>
                <a:lnTo>
                  <a:pt x="8558618" y="5705745"/>
                </a:lnTo>
                <a:lnTo>
                  <a:pt x="0" y="5705745"/>
                </a:lnTo>
                <a:lnTo>
                  <a:pt x="0" y="0"/>
                </a:lnTo>
                <a:close/>
              </a:path>
            </a:pathLst>
          </a:custGeom>
          <a:blipFill>
            <a:blip r:embed="rId2"/>
            <a:stretch>
              <a:fillRect/>
            </a:stretch>
          </a:blipFill>
        </p:spPr>
      </p:sp>
      <p:sp>
        <p:nvSpPr>
          <p:cNvPr id="3" name="TextBox 3"/>
          <p:cNvSpPr txBox="1"/>
          <p:nvPr/>
        </p:nvSpPr>
        <p:spPr>
          <a:xfrm>
            <a:off x="276349" y="463015"/>
            <a:ext cx="14409981" cy="1046046"/>
          </a:xfrm>
          <a:prstGeom prst="rect">
            <a:avLst/>
          </a:prstGeom>
        </p:spPr>
        <p:txBody>
          <a:bodyPr lIns="0" tIns="0" rIns="0" bIns="0" rtlCol="0" anchor="t">
            <a:spAutoFit/>
          </a:bodyPr>
          <a:lstStyle/>
          <a:p>
            <a:pPr algn="l">
              <a:lnSpc>
                <a:spcPts val="4018"/>
              </a:lnSpc>
            </a:pPr>
            <a:r>
              <a:rPr lang="en-US" sz="4275" b="1" spc="-89">
                <a:solidFill>
                  <a:srgbClr val="C1E328"/>
                </a:solidFill>
                <a:latin typeface="Open Sauce Bold"/>
                <a:ea typeface="Open Sauce Bold"/>
                <a:cs typeface="Open Sauce Bold"/>
                <a:sym typeface="Open Sauce Bold"/>
              </a:rPr>
              <a:t>SKINTIFIC : PRODUK APA YANG BELUM MEREKA DEVELOP?</a:t>
            </a:r>
          </a:p>
        </p:txBody>
      </p:sp>
      <p:sp>
        <p:nvSpPr>
          <p:cNvPr id="4" name="TextBox 4"/>
          <p:cNvSpPr txBox="1"/>
          <p:nvPr/>
        </p:nvSpPr>
        <p:spPr>
          <a:xfrm>
            <a:off x="8859537" y="2567510"/>
            <a:ext cx="8786181" cy="80813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Skintific memiliki banyak variasi produk Serum, Sunscreen, Decorative Skincare, Moisturizer, Mask, dan Lip Care</a:t>
            </a:r>
          </a:p>
        </p:txBody>
      </p:sp>
      <p:sp>
        <p:nvSpPr>
          <p:cNvPr id="5" name="TextBox 5"/>
          <p:cNvSpPr txBox="1"/>
          <p:nvPr/>
        </p:nvSpPr>
        <p:spPr>
          <a:xfrm>
            <a:off x="8859537" y="3862128"/>
            <a:ext cx="8786181" cy="80813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Produk yang belum mereka bikin </a:t>
            </a:r>
            <a:r>
              <a:rPr lang="en-US" sz="2308" b="1">
                <a:solidFill>
                  <a:srgbClr val="D5503A"/>
                </a:solidFill>
                <a:latin typeface="Canva Sans Bold"/>
                <a:ea typeface="Canva Sans Bold"/>
                <a:cs typeface="Canva Sans Bold"/>
                <a:sym typeface="Canva Sans Bold"/>
              </a:rPr>
              <a:t>Facial Wash </a:t>
            </a:r>
            <a:r>
              <a:rPr lang="en-US" sz="2308" b="1">
                <a:solidFill>
                  <a:srgbClr val="C1E328"/>
                </a:solidFill>
                <a:latin typeface="Canva Sans Bold"/>
                <a:ea typeface="Canva Sans Bold"/>
                <a:cs typeface="Canva Sans Bold"/>
                <a:sym typeface="Canva Sans Bold"/>
              </a:rPr>
              <a:t>,  </a:t>
            </a:r>
            <a:r>
              <a:rPr lang="en-US" sz="2308" b="1">
                <a:solidFill>
                  <a:srgbClr val="DE4F45"/>
                </a:solidFill>
                <a:latin typeface="Canva Sans Bold"/>
                <a:ea typeface="Canva Sans Bold"/>
                <a:cs typeface="Canva Sans Bold"/>
                <a:sym typeface="Canva Sans Bold"/>
              </a:rPr>
              <a:t>Scrub</a:t>
            </a:r>
            <a:r>
              <a:rPr lang="en-US" sz="2308" b="1">
                <a:solidFill>
                  <a:srgbClr val="C1E328"/>
                </a:solidFill>
                <a:latin typeface="Canva Sans Bold"/>
                <a:ea typeface="Canva Sans Bold"/>
                <a:cs typeface="Canva Sans Bold"/>
                <a:sym typeface="Canva Sans Bold"/>
              </a:rPr>
              <a:t>, </a:t>
            </a:r>
            <a:r>
              <a:rPr lang="en-US" sz="2308" b="1">
                <a:solidFill>
                  <a:srgbClr val="DE4F45"/>
                </a:solidFill>
                <a:latin typeface="Canva Sans Bold"/>
                <a:ea typeface="Canva Sans Bold"/>
                <a:cs typeface="Canva Sans Bold"/>
                <a:sym typeface="Canva Sans Bold"/>
              </a:rPr>
              <a:t>Perfume</a:t>
            </a:r>
          </a:p>
        </p:txBody>
      </p:sp>
      <p:sp>
        <p:nvSpPr>
          <p:cNvPr id="6" name="TextBox 6"/>
          <p:cNvSpPr txBox="1"/>
          <p:nvPr/>
        </p:nvSpPr>
        <p:spPr>
          <a:xfrm>
            <a:off x="8859537" y="5156034"/>
            <a:ext cx="8786181" cy="1217706"/>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Sepertinya brand ini sudah punya pabrik sendiri. Brand ini secara konstan mendaftarkan produk ke BPOM atas nama brand sendiri, tanpa ditambahi manufacturer.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Freeform 2"/>
          <p:cNvSpPr/>
          <p:nvPr/>
        </p:nvSpPr>
        <p:spPr>
          <a:xfrm>
            <a:off x="398086" y="2012367"/>
            <a:ext cx="8212054" cy="6029607"/>
          </a:xfrm>
          <a:custGeom>
            <a:avLst/>
            <a:gdLst/>
            <a:ahLst/>
            <a:cxnLst/>
            <a:rect l="l" t="t" r="r" b="b"/>
            <a:pathLst>
              <a:path w="8212054" h="6029607">
                <a:moveTo>
                  <a:pt x="0" y="0"/>
                </a:moveTo>
                <a:lnTo>
                  <a:pt x="8212053" y="0"/>
                </a:lnTo>
                <a:lnTo>
                  <a:pt x="8212053" y="6029607"/>
                </a:lnTo>
                <a:lnTo>
                  <a:pt x="0" y="6029607"/>
                </a:lnTo>
                <a:lnTo>
                  <a:pt x="0" y="0"/>
                </a:lnTo>
                <a:close/>
              </a:path>
            </a:pathLst>
          </a:custGeom>
          <a:blipFill>
            <a:blip r:embed="rId2"/>
            <a:stretch>
              <a:fillRect l="-3455" r="-6748"/>
            </a:stretch>
          </a:blipFill>
        </p:spPr>
      </p:sp>
      <p:sp>
        <p:nvSpPr>
          <p:cNvPr id="3" name="TextBox 3"/>
          <p:cNvSpPr txBox="1"/>
          <p:nvPr/>
        </p:nvSpPr>
        <p:spPr>
          <a:xfrm>
            <a:off x="398086" y="515764"/>
            <a:ext cx="14409981" cy="906053"/>
          </a:xfrm>
          <a:prstGeom prst="rect">
            <a:avLst/>
          </a:prstGeom>
        </p:spPr>
        <p:txBody>
          <a:bodyPr lIns="0" tIns="0" rIns="0" bIns="0" rtlCol="0" anchor="t">
            <a:spAutoFit/>
          </a:bodyPr>
          <a:lstStyle/>
          <a:p>
            <a:pPr algn="l">
              <a:lnSpc>
                <a:spcPts val="3454"/>
              </a:lnSpc>
            </a:pPr>
            <a:r>
              <a:rPr lang="en-US" sz="3675" b="1" spc="-77">
                <a:solidFill>
                  <a:srgbClr val="C1E328"/>
                </a:solidFill>
                <a:latin typeface="Open Sauce Bold"/>
                <a:ea typeface="Open Sauce Bold"/>
                <a:cs typeface="Open Sauce Bold"/>
                <a:sym typeface="Open Sauce Bold"/>
              </a:rPr>
              <a:t>GLAD2GLOW, BRAND DENGAN PENJUALAN TERTINGGI KEDUA DI SHOPEE!</a:t>
            </a:r>
          </a:p>
        </p:txBody>
      </p:sp>
      <p:sp>
        <p:nvSpPr>
          <p:cNvPr id="4" name="TextBox 4"/>
          <p:cNvSpPr txBox="1"/>
          <p:nvPr/>
        </p:nvSpPr>
        <p:spPr>
          <a:xfrm>
            <a:off x="8859537" y="2283388"/>
            <a:ext cx="8786181" cy="1217706"/>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Glad2Glow tidak memiliki banyak inovasi seperti Skintific, tapi setidaknya mereka punya lebih dari 1 variasi produk. Jumlah reseller juga tidak sebanyak Skintific.</a:t>
            </a:r>
          </a:p>
        </p:txBody>
      </p:sp>
      <p:sp>
        <p:nvSpPr>
          <p:cNvPr id="5" name="TextBox 5"/>
          <p:cNvSpPr txBox="1"/>
          <p:nvPr/>
        </p:nvSpPr>
        <p:spPr>
          <a:xfrm>
            <a:off x="8859537" y="4044020"/>
            <a:ext cx="8786181" cy="1217706"/>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Harga dan ASP sinkron dan rendah, menunjukkan bahwa brand ini mengerti kondisi market di Indonesia dan tidak pernah memberikan di</a:t>
            </a:r>
          </a:p>
        </p:txBody>
      </p:sp>
      <p:sp>
        <p:nvSpPr>
          <p:cNvPr id="6" name="TextBox 6"/>
          <p:cNvSpPr txBox="1"/>
          <p:nvPr/>
        </p:nvSpPr>
        <p:spPr>
          <a:xfrm>
            <a:off x="8859537" y="5478288"/>
            <a:ext cx="8786181" cy="80813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Rerata penjualan per bulan ada di level menengah. Rating juga ada di level rating menengah.</a:t>
            </a:r>
          </a:p>
        </p:txBody>
      </p:sp>
      <p:sp>
        <p:nvSpPr>
          <p:cNvPr id="7" name="TextBox 7"/>
          <p:cNvSpPr txBox="1"/>
          <p:nvPr/>
        </p:nvSpPr>
        <p:spPr>
          <a:xfrm>
            <a:off x="203572" y="8445274"/>
            <a:ext cx="17785340" cy="1334964"/>
          </a:xfrm>
          <a:prstGeom prst="rect">
            <a:avLst/>
          </a:prstGeom>
        </p:spPr>
        <p:txBody>
          <a:bodyPr lIns="0" tIns="0" rIns="0" bIns="0" rtlCol="0" anchor="t">
            <a:spAutoFit/>
          </a:bodyPr>
          <a:lstStyle/>
          <a:p>
            <a:pPr marL="0" lvl="0" indent="0" algn="just">
              <a:lnSpc>
                <a:spcPts val="2648"/>
              </a:lnSpc>
              <a:spcBef>
                <a:spcPct val="0"/>
              </a:spcBef>
            </a:pPr>
            <a:r>
              <a:rPr lang="en-US" sz="1891" b="1">
                <a:solidFill>
                  <a:srgbClr val="C1E328"/>
                </a:solidFill>
                <a:latin typeface="Canva Sans Bold"/>
                <a:ea typeface="Canva Sans Bold"/>
                <a:cs typeface="Canva Sans Bold"/>
                <a:sym typeface="Canva Sans Bold"/>
              </a:rPr>
              <a:t>Kesimpulan : Brand ini brand yang kuat tapi masih ada kesempatan untuk menyalip brand ini. Brand ini masih bisa dijatuhkan dari segi jumlah reseller di Shopee. Reseller adalah perpanjangan tangan dari tiap official store dari brand. Semakin banyak reseller, semakin terkenal brand tersebut di mata masyarakat (hanya terjadi jika penjualan di tiap reseller juga tinggi). Jumlah variasi produk juga bisa mengalahkan brand ini. Perbanyak variasi produk dengan harga terjangkau, ada kemungkinan brand-brand baru bisa menyalip penjualan mereka!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Freeform 2"/>
          <p:cNvSpPr/>
          <p:nvPr/>
        </p:nvSpPr>
        <p:spPr>
          <a:xfrm>
            <a:off x="101470" y="2227781"/>
            <a:ext cx="8851581" cy="5901054"/>
          </a:xfrm>
          <a:custGeom>
            <a:avLst/>
            <a:gdLst/>
            <a:ahLst/>
            <a:cxnLst/>
            <a:rect l="l" t="t" r="r" b="b"/>
            <a:pathLst>
              <a:path w="8851581" h="5901054">
                <a:moveTo>
                  <a:pt x="0" y="0"/>
                </a:moveTo>
                <a:lnTo>
                  <a:pt x="8851581" y="0"/>
                </a:lnTo>
                <a:lnTo>
                  <a:pt x="8851581" y="5901054"/>
                </a:lnTo>
                <a:lnTo>
                  <a:pt x="0" y="5901054"/>
                </a:lnTo>
                <a:lnTo>
                  <a:pt x="0" y="0"/>
                </a:lnTo>
                <a:close/>
              </a:path>
            </a:pathLst>
          </a:custGeom>
          <a:blipFill>
            <a:blip r:embed="rId2"/>
            <a:stretch>
              <a:fillRect/>
            </a:stretch>
          </a:blipFill>
        </p:spPr>
      </p:sp>
      <p:sp>
        <p:nvSpPr>
          <p:cNvPr id="3" name="TextBox 3"/>
          <p:cNvSpPr txBox="1"/>
          <p:nvPr/>
        </p:nvSpPr>
        <p:spPr>
          <a:xfrm>
            <a:off x="276349" y="463015"/>
            <a:ext cx="14409981" cy="1046046"/>
          </a:xfrm>
          <a:prstGeom prst="rect">
            <a:avLst/>
          </a:prstGeom>
        </p:spPr>
        <p:txBody>
          <a:bodyPr lIns="0" tIns="0" rIns="0" bIns="0" rtlCol="0" anchor="t">
            <a:spAutoFit/>
          </a:bodyPr>
          <a:lstStyle/>
          <a:p>
            <a:pPr algn="l">
              <a:lnSpc>
                <a:spcPts val="4018"/>
              </a:lnSpc>
            </a:pPr>
            <a:r>
              <a:rPr lang="en-US" sz="4275" b="1" spc="-89">
                <a:solidFill>
                  <a:srgbClr val="C1E328"/>
                </a:solidFill>
                <a:latin typeface="Open Sauce Bold"/>
                <a:ea typeface="Open Sauce Bold"/>
                <a:cs typeface="Open Sauce Bold"/>
                <a:sym typeface="Open Sauce Bold"/>
              </a:rPr>
              <a:t>GLAD2GLOW : PRODUK APA YANG BELUM MEREKA DEVELOP?</a:t>
            </a:r>
          </a:p>
        </p:txBody>
      </p:sp>
      <p:sp>
        <p:nvSpPr>
          <p:cNvPr id="4" name="TextBox 4"/>
          <p:cNvSpPr txBox="1"/>
          <p:nvPr/>
        </p:nvSpPr>
        <p:spPr>
          <a:xfrm>
            <a:off x="9144000" y="1675688"/>
            <a:ext cx="8786181" cy="80813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Produk-produk Glad2Glow terfokus di Eye Makeup, Foundation, Deodorant, </a:t>
            </a:r>
          </a:p>
        </p:txBody>
      </p:sp>
      <p:sp>
        <p:nvSpPr>
          <p:cNvPr id="5" name="TextBox 5"/>
          <p:cNvSpPr txBox="1"/>
          <p:nvPr/>
        </p:nvSpPr>
        <p:spPr>
          <a:xfrm>
            <a:off x="9144000" y="2856540"/>
            <a:ext cx="8786181" cy="80813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Produk yang belum mereka bikin </a:t>
            </a:r>
            <a:r>
              <a:rPr lang="en-US" sz="2308" b="1">
                <a:solidFill>
                  <a:srgbClr val="D5503A"/>
                </a:solidFill>
                <a:latin typeface="Canva Sans Bold"/>
                <a:ea typeface="Canva Sans Bold"/>
                <a:cs typeface="Canva Sans Bold"/>
                <a:sym typeface="Canva Sans Bold"/>
              </a:rPr>
              <a:t>Body Wash</a:t>
            </a:r>
            <a:r>
              <a:rPr lang="en-US" sz="2308" b="1">
                <a:solidFill>
                  <a:srgbClr val="C1E328"/>
                </a:solidFill>
                <a:latin typeface="Canva Sans Bold"/>
                <a:ea typeface="Canva Sans Bold"/>
                <a:cs typeface="Canva Sans Bold"/>
                <a:sym typeface="Canva Sans Bold"/>
              </a:rPr>
              <a:t>, </a:t>
            </a:r>
            <a:r>
              <a:rPr lang="en-US" sz="2308" b="1">
                <a:solidFill>
                  <a:srgbClr val="DE4F45"/>
                </a:solidFill>
                <a:latin typeface="Canva Sans Bold"/>
                <a:ea typeface="Canva Sans Bold"/>
                <a:cs typeface="Canva Sans Bold"/>
                <a:sym typeface="Canva Sans Bold"/>
              </a:rPr>
              <a:t>Scrub</a:t>
            </a:r>
            <a:r>
              <a:rPr lang="en-US" sz="2308" b="1">
                <a:solidFill>
                  <a:srgbClr val="C1E328"/>
                </a:solidFill>
                <a:latin typeface="Canva Sans Bold"/>
                <a:ea typeface="Canva Sans Bold"/>
                <a:cs typeface="Canva Sans Bold"/>
                <a:sym typeface="Canva Sans Bold"/>
              </a:rPr>
              <a:t>, </a:t>
            </a:r>
            <a:r>
              <a:rPr lang="en-US" sz="2308" b="1">
                <a:solidFill>
                  <a:srgbClr val="DE4F45"/>
                </a:solidFill>
                <a:latin typeface="Canva Sans Bold"/>
                <a:ea typeface="Canva Sans Bold"/>
                <a:cs typeface="Canva Sans Bold"/>
                <a:sym typeface="Canva Sans Bold"/>
              </a:rPr>
              <a:t>Perfume, Sunscreen</a:t>
            </a:r>
          </a:p>
        </p:txBody>
      </p:sp>
      <p:sp>
        <p:nvSpPr>
          <p:cNvPr id="6" name="TextBox 6"/>
          <p:cNvSpPr txBox="1"/>
          <p:nvPr/>
        </p:nvSpPr>
        <p:spPr>
          <a:xfrm>
            <a:off x="9144000" y="4278748"/>
            <a:ext cx="8786181" cy="1217706"/>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Brand ini sudah memiliki pabrik sendiri, jadi mungkin akan susah untuk penetrasi dan mempengaruhi mereka untuk membuat produk baru</a:t>
            </a:r>
          </a:p>
        </p:txBody>
      </p:sp>
      <p:sp>
        <p:nvSpPr>
          <p:cNvPr id="7" name="TextBox 7"/>
          <p:cNvSpPr txBox="1"/>
          <p:nvPr/>
        </p:nvSpPr>
        <p:spPr>
          <a:xfrm>
            <a:off x="9144000" y="6106054"/>
            <a:ext cx="8786181" cy="162728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Glad2Glow hampir menciptakan seluruh produk skincare. Akan sulit untuk mencari produk yang belum mereka develop dan berharap kita adalah pilihan mereka diantara 920 maklon yang lain.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Freeform 2"/>
          <p:cNvSpPr/>
          <p:nvPr/>
        </p:nvSpPr>
        <p:spPr>
          <a:xfrm>
            <a:off x="251330" y="2043117"/>
            <a:ext cx="8001731" cy="5331153"/>
          </a:xfrm>
          <a:custGeom>
            <a:avLst/>
            <a:gdLst/>
            <a:ahLst/>
            <a:cxnLst/>
            <a:rect l="l" t="t" r="r" b="b"/>
            <a:pathLst>
              <a:path w="8001731" h="5331153">
                <a:moveTo>
                  <a:pt x="0" y="0"/>
                </a:moveTo>
                <a:lnTo>
                  <a:pt x="8001731" y="0"/>
                </a:lnTo>
                <a:lnTo>
                  <a:pt x="8001731" y="5331153"/>
                </a:lnTo>
                <a:lnTo>
                  <a:pt x="0" y="5331153"/>
                </a:lnTo>
                <a:lnTo>
                  <a:pt x="0" y="0"/>
                </a:lnTo>
                <a:close/>
              </a:path>
            </a:pathLst>
          </a:custGeom>
          <a:blipFill>
            <a:blip r:embed="rId2"/>
            <a:stretch>
              <a:fillRect/>
            </a:stretch>
          </a:blipFill>
        </p:spPr>
      </p:sp>
      <p:sp>
        <p:nvSpPr>
          <p:cNvPr id="3" name="TextBox 3"/>
          <p:cNvSpPr txBox="1"/>
          <p:nvPr/>
        </p:nvSpPr>
        <p:spPr>
          <a:xfrm>
            <a:off x="251330" y="507253"/>
            <a:ext cx="16590776" cy="906053"/>
          </a:xfrm>
          <a:prstGeom prst="rect">
            <a:avLst/>
          </a:prstGeom>
        </p:spPr>
        <p:txBody>
          <a:bodyPr lIns="0" tIns="0" rIns="0" bIns="0" rtlCol="0" anchor="t">
            <a:spAutoFit/>
          </a:bodyPr>
          <a:lstStyle/>
          <a:p>
            <a:pPr algn="l">
              <a:lnSpc>
                <a:spcPts val="3454"/>
              </a:lnSpc>
            </a:pPr>
            <a:r>
              <a:rPr lang="en-US" sz="3675" b="1" spc="-77">
                <a:solidFill>
                  <a:srgbClr val="C1E328"/>
                </a:solidFill>
                <a:latin typeface="Open Sauce Bold"/>
                <a:ea typeface="Open Sauce Bold"/>
                <a:cs typeface="Open Sauce Bold"/>
                <a:sym typeface="Open Sauce Bold"/>
              </a:rPr>
              <a:t>THE ORIGINOTE! BRAND YANG MAMPU RAIH BANYAK PENJUALAN DAN CUSTOMER MESKIPUN VARIANNYA TIDAK BANYAK!</a:t>
            </a:r>
          </a:p>
        </p:txBody>
      </p:sp>
      <p:sp>
        <p:nvSpPr>
          <p:cNvPr id="4" name="TextBox 4"/>
          <p:cNvSpPr txBox="1"/>
          <p:nvPr/>
        </p:nvSpPr>
        <p:spPr>
          <a:xfrm>
            <a:off x="8859537" y="2283388"/>
            <a:ext cx="8786181" cy="80813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Grafik Originote unik dibandingkan yang lain. Jumlah variasi produk dan jumlah reseller tidak begitu banyak. </a:t>
            </a:r>
          </a:p>
        </p:txBody>
      </p:sp>
      <p:sp>
        <p:nvSpPr>
          <p:cNvPr id="5" name="TextBox 5"/>
          <p:cNvSpPr txBox="1"/>
          <p:nvPr/>
        </p:nvSpPr>
        <p:spPr>
          <a:xfrm>
            <a:off x="8859537" y="3471937"/>
            <a:ext cx="8786181" cy="80813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Harga dan ASP sinkron dan rendah, menunjukkan bahwa brand ini mengerti kondisi market di Indonesia. Tapi..</a:t>
            </a:r>
          </a:p>
        </p:txBody>
      </p:sp>
      <p:sp>
        <p:nvSpPr>
          <p:cNvPr id="6" name="TextBox 6"/>
          <p:cNvSpPr txBox="1"/>
          <p:nvPr/>
        </p:nvSpPr>
        <p:spPr>
          <a:xfrm>
            <a:off x="8859537" y="4661068"/>
            <a:ext cx="8786181" cy="80813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Rerata penjualan per bulan ada di level tinggi! Mereka juga mampu mengakuisisi pelanggan dalam jumlah besar!</a:t>
            </a:r>
          </a:p>
        </p:txBody>
      </p:sp>
      <p:sp>
        <p:nvSpPr>
          <p:cNvPr id="7" name="TextBox 7"/>
          <p:cNvSpPr txBox="1"/>
          <p:nvPr/>
        </p:nvSpPr>
        <p:spPr>
          <a:xfrm>
            <a:off x="251330" y="8091623"/>
            <a:ext cx="17806143" cy="1470873"/>
          </a:xfrm>
          <a:prstGeom prst="rect">
            <a:avLst/>
          </a:prstGeom>
        </p:spPr>
        <p:txBody>
          <a:bodyPr lIns="0" tIns="0" rIns="0" bIns="0" rtlCol="0" anchor="t">
            <a:spAutoFit/>
          </a:bodyPr>
          <a:lstStyle/>
          <a:p>
            <a:pPr marL="0" lvl="0" indent="0" algn="just">
              <a:lnSpc>
                <a:spcPts val="2928"/>
              </a:lnSpc>
              <a:spcBef>
                <a:spcPct val="0"/>
              </a:spcBef>
            </a:pPr>
            <a:r>
              <a:rPr lang="en-US" sz="2091" b="1">
                <a:solidFill>
                  <a:srgbClr val="C1E328"/>
                </a:solidFill>
                <a:latin typeface="Canva Sans Bold"/>
                <a:ea typeface="Canva Sans Bold"/>
                <a:cs typeface="Canva Sans Bold"/>
                <a:sym typeface="Canva Sans Bold"/>
              </a:rPr>
              <a:t>Kesimpulan : Brand ini sangat unik, mereka mampu dapatkan pelanggan dan rerata jumlah penjualan per bulan yang tinggi meskipun produk mereka tidak begitu banyak bervariasi. Ini menunjukkan bahwa tak harus punya banyak variasi produk agar mendapatkan penjualan yang tinggi di tiap bulannya. Dari segi rating brand ini cenderung menengah kebawah, jumlah reseller juga tidak banyak. Mereka mampu bersaing harga dengan brand-brand lain yang sama-sama memasang harga rendah. </a:t>
            </a:r>
          </a:p>
        </p:txBody>
      </p:sp>
      <p:sp>
        <p:nvSpPr>
          <p:cNvPr id="8" name="TextBox 8"/>
          <p:cNvSpPr txBox="1"/>
          <p:nvPr/>
        </p:nvSpPr>
        <p:spPr>
          <a:xfrm>
            <a:off x="8859537" y="5777018"/>
            <a:ext cx="8786181" cy="1217706"/>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Harga produk aslinya dan Average Selling Price sinkron, menunjukkan bahwa brand ini tidak memberikan diskon yang terlalu jauh dari harga aslinya.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Freeform 2"/>
          <p:cNvSpPr/>
          <p:nvPr/>
        </p:nvSpPr>
        <p:spPr>
          <a:xfrm>
            <a:off x="101343" y="1915625"/>
            <a:ext cx="8956006" cy="5970671"/>
          </a:xfrm>
          <a:custGeom>
            <a:avLst/>
            <a:gdLst/>
            <a:ahLst/>
            <a:cxnLst/>
            <a:rect l="l" t="t" r="r" b="b"/>
            <a:pathLst>
              <a:path w="8956006" h="5970671">
                <a:moveTo>
                  <a:pt x="0" y="0"/>
                </a:moveTo>
                <a:lnTo>
                  <a:pt x="8956007" y="0"/>
                </a:lnTo>
                <a:lnTo>
                  <a:pt x="8956007" y="5970671"/>
                </a:lnTo>
                <a:lnTo>
                  <a:pt x="0" y="5970671"/>
                </a:lnTo>
                <a:lnTo>
                  <a:pt x="0" y="0"/>
                </a:lnTo>
                <a:close/>
              </a:path>
            </a:pathLst>
          </a:custGeom>
          <a:blipFill>
            <a:blip r:embed="rId2"/>
            <a:stretch>
              <a:fillRect/>
            </a:stretch>
          </a:blipFill>
        </p:spPr>
      </p:sp>
      <p:sp>
        <p:nvSpPr>
          <p:cNvPr id="3" name="TextBox 3"/>
          <p:cNvSpPr txBox="1"/>
          <p:nvPr/>
        </p:nvSpPr>
        <p:spPr>
          <a:xfrm>
            <a:off x="276349" y="463015"/>
            <a:ext cx="14409981" cy="1046046"/>
          </a:xfrm>
          <a:prstGeom prst="rect">
            <a:avLst/>
          </a:prstGeom>
        </p:spPr>
        <p:txBody>
          <a:bodyPr lIns="0" tIns="0" rIns="0" bIns="0" rtlCol="0" anchor="t">
            <a:spAutoFit/>
          </a:bodyPr>
          <a:lstStyle/>
          <a:p>
            <a:pPr algn="l">
              <a:lnSpc>
                <a:spcPts val="4018"/>
              </a:lnSpc>
            </a:pPr>
            <a:r>
              <a:rPr lang="en-US" sz="4275" b="1" spc="-89">
                <a:solidFill>
                  <a:srgbClr val="C1E328"/>
                </a:solidFill>
                <a:latin typeface="Open Sauce Bold"/>
                <a:ea typeface="Open Sauce Bold"/>
                <a:cs typeface="Open Sauce Bold"/>
                <a:sym typeface="Open Sauce Bold"/>
              </a:rPr>
              <a:t>THE ORIGINOTE: PRODUK APA YANG BELUM MEREKA DEVELOP?</a:t>
            </a:r>
          </a:p>
        </p:txBody>
      </p:sp>
      <p:sp>
        <p:nvSpPr>
          <p:cNvPr id="4" name="TextBox 4"/>
          <p:cNvSpPr txBox="1"/>
          <p:nvPr/>
        </p:nvSpPr>
        <p:spPr>
          <a:xfrm>
            <a:off x="9144000" y="2571944"/>
            <a:ext cx="8786181" cy="80813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Produk-produk The Originote terbatas hanya di </a:t>
            </a:r>
            <a:r>
              <a:rPr lang="en-US" sz="2308" b="1">
                <a:solidFill>
                  <a:srgbClr val="367A76"/>
                </a:solidFill>
                <a:latin typeface="Canva Sans Bold"/>
                <a:ea typeface="Canva Sans Bold"/>
                <a:cs typeface="Canva Sans Bold"/>
                <a:sym typeface="Canva Sans Bold"/>
              </a:rPr>
              <a:t>Moisturizer, Sunscreen,Cleanser, Toner, dan Eye Makeup, Mask</a:t>
            </a:r>
            <a:r>
              <a:rPr lang="en-US" sz="2308" b="1">
                <a:solidFill>
                  <a:srgbClr val="C1E328"/>
                </a:solidFill>
                <a:latin typeface="Canva Sans Bold"/>
                <a:ea typeface="Canva Sans Bold"/>
                <a:cs typeface="Canva Sans Bold"/>
                <a:sym typeface="Canva Sans Bold"/>
              </a:rPr>
              <a:t>. </a:t>
            </a:r>
          </a:p>
        </p:txBody>
      </p:sp>
      <p:sp>
        <p:nvSpPr>
          <p:cNvPr id="5" name="TextBox 5"/>
          <p:cNvSpPr txBox="1"/>
          <p:nvPr/>
        </p:nvSpPr>
        <p:spPr>
          <a:xfrm>
            <a:off x="9144000" y="5503578"/>
            <a:ext cx="8786181" cy="398556"/>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Brand ini langganan di </a:t>
            </a:r>
            <a:r>
              <a:rPr lang="en-US" sz="2308" b="1">
                <a:solidFill>
                  <a:srgbClr val="E19D4B"/>
                </a:solidFill>
                <a:latin typeface="Canva Sans Bold"/>
                <a:ea typeface="Canva Sans Bold"/>
                <a:cs typeface="Canva Sans Bold"/>
                <a:sym typeface="Canva Sans Bold"/>
              </a:rPr>
              <a:t>PT NAYUE KOSMETIK INDONESIA</a:t>
            </a:r>
          </a:p>
        </p:txBody>
      </p:sp>
      <p:sp>
        <p:nvSpPr>
          <p:cNvPr id="6" name="TextBox 6"/>
          <p:cNvSpPr txBox="1"/>
          <p:nvPr/>
        </p:nvSpPr>
        <p:spPr>
          <a:xfrm>
            <a:off x="9144000" y="3977767"/>
            <a:ext cx="8786181" cy="80813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Produk yang belum mereka buat </a:t>
            </a:r>
            <a:r>
              <a:rPr lang="en-US" sz="2308" b="1">
                <a:solidFill>
                  <a:srgbClr val="D5503A"/>
                </a:solidFill>
                <a:latin typeface="Canva Sans Bold"/>
                <a:ea typeface="Canva Sans Bold"/>
                <a:cs typeface="Canva Sans Bold"/>
                <a:sym typeface="Canva Sans Bold"/>
              </a:rPr>
              <a:t>Body Wash,</a:t>
            </a:r>
            <a:r>
              <a:rPr lang="en-US" sz="2308" b="1">
                <a:solidFill>
                  <a:srgbClr val="C1E328"/>
                </a:solidFill>
                <a:latin typeface="Canva Sans Bold"/>
                <a:ea typeface="Canva Sans Bold"/>
                <a:cs typeface="Canva Sans Bold"/>
                <a:sym typeface="Canva Sans Bold"/>
              </a:rPr>
              <a:t> </a:t>
            </a:r>
            <a:r>
              <a:rPr lang="en-US" sz="2308" b="1">
                <a:solidFill>
                  <a:srgbClr val="D5503A"/>
                </a:solidFill>
                <a:latin typeface="Canva Sans Bold"/>
                <a:ea typeface="Canva Sans Bold"/>
                <a:cs typeface="Canva Sans Bold"/>
                <a:sym typeface="Canva Sans Bold"/>
              </a:rPr>
              <a:t>Deodorant,Cleanser, Foundation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Freeform 2"/>
          <p:cNvSpPr/>
          <p:nvPr/>
        </p:nvSpPr>
        <p:spPr>
          <a:xfrm>
            <a:off x="251330" y="1735882"/>
            <a:ext cx="8295388" cy="5526802"/>
          </a:xfrm>
          <a:custGeom>
            <a:avLst/>
            <a:gdLst/>
            <a:ahLst/>
            <a:cxnLst/>
            <a:rect l="l" t="t" r="r" b="b"/>
            <a:pathLst>
              <a:path w="8295388" h="5526802">
                <a:moveTo>
                  <a:pt x="0" y="0"/>
                </a:moveTo>
                <a:lnTo>
                  <a:pt x="8295388" y="0"/>
                </a:lnTo>
                <a:lnTo>
                  <a:pt x="8295388" y="5526802"/>
                </a:lnTo>
                <a:lnTo>
                  <a:pt x="0" y="5526802"/>
                </a:lnTo>
                <a:lnTo>
                  <a:pt x="0" y="0"/>
                </a:lnTo>
                <a:close/>
              </a:path>
            </a:pathLst>
          </a:custGeom>
          <a:blipFill>
            <a:blip r:embed="rId2"/>
            <a:stretch>
              <a:fillRect/>
            </a:stretch>
          </a:blipFill>
        </p:spPr>
      </p:sp>
      <p:sp>
        <p:nvSpPr>
          <p:cNvPr id="3" name="TextBox 3"/>
          <p:cNvSpPr txBox="1"/>
          <p:nvPr/>
        </p:nvSpPr>
        <p:spPr>
          <a:xfrm>
            <a:off x="8797128" y="1627001"/>
            <a:ext cx="8786181" cy="162728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Hanasui mungkin brand dengan rerata penjualan per bulan terendah dibandingkan yang lain. Jumlah resellernya rendah dan varian produknya paling rendah dibandingkan brand yang  lain</a:t>
            </a:r>
          </a:p>
        </p:txBody>
      </p:sp>
      <p:sp>
        <p:nvSpPr>
          <p:cNvPr id="4" name="TextBox 4"/>
          <p:cNvSpPr txBox="1"/>
          <p:nvPr/>
        </p:nvSpPr>
        <p:spPr>
          <a:xfrm>
            <a:off x="8734719" y="3510879"/>
            <a:ext cx="8786181" cy="1217706"/>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Harga rata-rata dan Average Selling Price rendah dan sinkron, menandakan bahwa brand ini mengikuti harga yang disukai oleh masyarakat di pasar produk moisturizer.</a:t>
            </a:r>
          </a:p>
        </p:txBody>
      </p:sp>
      <p:sp>
        <p:nvSpPr>
          <p:cNvPr id="5" name="TextBox 5"/>
          <p:cNvSpPr txBox="1"/>
          <p:nvPr/>
        </p:nvSpPr>
        <p:spPr>
          <a:xfrm>
            <a:off x="8734719" y="4985760"/>
            <a:ext cx="8786181" cy="162728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Jumlah customernya untuk produk Hanasui sangat sedikit,sama dengan rerata penjualannya per bulan. Namun ini masuk akal karena umur produk ini masih sangat-sangat baru.</a:t>
            </a:r>
          </a:p>
        </p:txBody>
      </p:sp>
      <p:sp>
        <p:nvSpPr>
          <p:cNvPr id="6" name="TextBox 6"/>
          <p:cNvSpPr txBox="1"/>
          <p:nvPr/>
        </p:nvSpPr>
        <p:spPr>
          <a:xfrm>
            <a:off x="251330" y="8091623"/>
            <a:ext cx="17806143" cy="1099398"/>
          </a:xfrm>
          <a:prstGeom prst="rect">
            <a:avLst/>
          </a:prstGeom>
        </p:spPr>
        <p:txBody>
          <a:bodyPr lIns="0" tIns="0" rIns="0" bIns="0" rtlCol="0" anchor="t">
            <a:spAutoFit/>
          </a:bodyPr>
          <a:lstStyle/>
          <a:p>
            <a:pPr marL="0" lvl="0" indent="0" algn="just">
              <a:lnSpc>
                <a:spcPts val="2928"/>
              </a:lnSpc>
              <a:spcBef>
                <a:spcPct val="0"/>
              </a:spcBef>
            </a:pPr>
            <a:r>
              <a:rPr lang="en-US" sz="2091" b="1">
                <a:solidFill>
                  <a:srgbClr val="C1E328"/>
                </a:solidFill>
                <a:latin typeface="Canva Sans Bold"/>
                <a:ea typeface="Canva Sans Bold"/>
                <a:cs typeface="Canva Sans Bold"/>
                <a:sym typeface="Canva Sans Bold"/>
              </a:rPr>
              <a:t>Kesimpulan : Brand ini bisa dibilang lemah dibandingkan brand-brand lain yang memiliki rerata penjualan per bulan tinggi. Jumlah resellernya sedikit dan jumlah varian produknya juga sama. Tapi perlu kita maklumi bahwa produk moisturizer yang dikembangkan juga masih baru.</a:t>
            </a:r>
          </a:p>
        </p:txBody>
      </p:sp>
      <p:sp>
        <p:nvSpPr>
          <p:cNvPr id="7" name="TextBox 7"/>
          <p:cNvSpPr txBox="1"/>
          <p:nvPr/>
        </p:nvSpPr>
        <p:spPr>
          <a:xfrm>
            <a:off x="251330" y="734489"/>
            <a:ext cx="16590776" cy="759278"/>
          </a:xfrm>
          <a:prstGeom prst="rect">
            <a:avLst/>
          </a:prstGeom>
        </p:spPr>
        <p:txBody>
          <a:bodyPr lIns="0" tIns="0" rIns="0" bIns="0" rtlCol="0" anchor="t">
            <a:spAutoFit/>
          </a:bodyPr>
          <a:lstStyle/>
          <a:p>
            <a:pPr algn="l">
              <a:lnSpc>
                <a:spcPts val="5616"/>
              </a:lnSpc>
            </a:pPr>
            <a:r>
              <a:rPr lang="en-US" sz="5975" b="1" spc="-125">
                <a:solidFill>
                  <a:srgbClr val="C1E328"/>
                </a:solidFill>
                <a:latin typeface="Open Sauce Bold"/>
                <a:ea typeface="Open Sauce Bold"/>
                <a:cs typeface="Open Sauce Bold"/>
                <a:sym typeface="Open Sauce Bold"/>
              </a:rPr>
              <a:t>HANASUI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Freeform 2"/>
          <p:cNvSpPr/>
          <p:nvPr/>
        </p:nvSpPr>
        <p:spPr>
          <a:xfrm>
            <a:off x="187994" y="2353052"/>
            <a:ext cx="8956006" cy="5970671"/>
          </a:xfrm>
          <a:custGeom>
            <a:avLst/>
            <a:gdLst/>
            <a:ahLst/>
            <a:cxnLst/>
            <a:rect l="l" t="t" r="r" b="b"/>
            <a:pathLst>
              <a:path w="8956006" h="5970671">
                <a:moveTo>
                  <a:pt x="0" y="0"/>
                </a:moveTo>
                <a:lnTo>
                  <a:pt x="8956006" y="0"/>
                </a:lnTo>
                <a:lnTo>
                  <a:pt x="8956006" y="5970670"/>
                </a:lnTo>
                <a:lnTo>
                  <a:pt x="0" y="5970670"/>
                </a:lnTo>
                <a:lnTo>
                  <a:pt x="0" y="0"/>
                </a:lnTo>
                <a:close/>
              </a:path>
            </a:pathLst>
          </a:custGeom>
          <a:blipFill>
            <a:blip r:embed="rId2"/>
            <a:stretch>
              <a:fillRect/>
            </a:stretch>
          </a:blipFill>
        </p:spPr>
      </p:sp>
      <p:sp>
        <p:nvSpPr>
          <p:cNvPr id="3" name="TextBox 3"/>
          <p:cNvSpPr txBox="1"/>
          <p:nvPr/>
        </p:nvSpPr>
        <p:spPr>
          <a:xfrm>
            <a:off x="276349" y="463015"/>
            <a:ext cx="14409981" cy="1046046"/>
          </a:xfrm>
          <a:prstGeom prst="rect">
            <a:avLst/>
          </a:prstGeom>
        </p:spPr>
        <p:txBody>
          <a:bodyPr lIns="0" tIns="0" rIns="0" bIns="0" rtlCol="0" anchor="t">
            <a:spAutoFit/>
          </a:bodyPr>
          <a:lstStyle/>
          <a:p>
            <a:pPr algn="l">
              <a:lnSpc>
                <a:spcPts val="4018"/>
              </a:lnSpc>
            </a:pPr>
            <a:r>
              <a:rPr lang="en-US" sz="4275" b="1" spc="-89">
                <a:solidFill>
                  <a:srgbClr val="C1E328"/>
                </a:solidFill>
                <a:latin typeface="Open Sauce Bold"/>
                <a:ea typeface="Open Sauce Bold"/>
                <a:cs typeface="Open Sauce Bold"/>
                <a:sym typeface="Open Sauce Bold"/>
              </a:rPr>
              <a:t>HANASUI: PRODUK APA YANG BELUM MEREKA DEVELOP?</a:t>
            </a:r>
          </a:p>
        </p:txBody>
      </p:sp>
      <p:sp>
        <p:nvSpPr>
          <p:cNvPr id="4" name="TextBox 4"/>
          <p:cNvSpPr txBox="1"/>
          <p:nvPr/>
        </p:nvSpPr>
        <p:spPr>
          <a:xfrm>
            <a:off x="9308889" y="2571944"/>
            <a:ext cx="8621292" cy="1217706"/>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Produk-produk yang sudah didevelop oleh Hanasui adalah Foundation, Lip Care, Mask, Serum, Decorative, Cleanser Moisturizer, Peeling Skincare dan Sunscreen</a:t>
            </a:r>
          </a:p>
        </p:txBody>
      </p:sp>
      <p:sp>
        <p:nvSpPr>
          <p:cNvPr id="5" name="TextBox 5"/>
          <p:cNvSpPr txBox="1"/>
          <p:nvPr/>
        </p:nvSpPr>
        <p:spPr>
          <a:xfrm>
            <a:off x="9308889" y="6589417"/>
            <a:ext cx="8703736" cy="80813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Brand ini membuat produk di </a:t>
            </a:r>
            <a:r>
              <a:rPr lang="en-US" sz="2308" b="1">
                <a:solidFill>
                  <a:srgbClr val="E19D4B"/>
                </a:solidFill>
                <a:latin typeface="Canva Sans Bold"/>
                <a:ea typeface="Canva Sans Bold"/>
                <a:cs typeface="Canva Sans Bold"/>
                <a:sym typeface="Canva Sans Bold"/>
              </a:rPr>
              <a:t>Zhongshan</a:t>
            </a:r>
            <a:r>
              <a:rPr lang="en-US" sz="2308" b="1">
                <a:solidFill>
                  <a:srgbClr val="C1E328"/>
                </a:solidFill>
                <a:latin typeface="Canva Sans Bold"/>
                <a:ea typeface="Canva Sans Bold"/>
                <a:cs typeface="Canva Sans Bold"/>
                <a:sym typeface="Canva Sans Bold"/>
              </a:rPr>
              <a:t> dan </a:t>
            </a:r>
            <a:r>
              <a:rPr lang="en-US" sz="2308" b="1">
                <a:solidFill>
                  <a:srgbClr val="E19D4B"/>
                </a:solidFill>
                <a:latin typeface="Canva Sans Bold"/>
                <a:ea typeface="Canva Sans Bold"/>
                <a:cs typeface="Canva Sans Bold"/>
                <a:sym typeface="Canva Sans Bold"/>
              </a:rPr>
              <a:t>Aqua Beauty Biotech</a:t>
            </a:r>
            <a:r>
              <a:rPr lang="en-US" sz="2308" b="1">
                <a:solidFill>
                  <a:srgbClr val="C1E328"/>
                </a:solidFill>
                <a:latin typeface="Canva Sans Bold"/>
                <a:ea typeface="Canva Sans Bold"/>
                <a:cs typeface="Canva Sans Bold"/>
                <a:sym typeface="Canva Sans Bold"/>
              </a:rPr>
              <a:t>.</a:t>
            </a:r>
          </a:p>
        </p:txBody>
      </p:sp>
      <p:sp>
        <p:nvSpPr>
          <p:cNvPr id="6" name="TextBox 6"/>
          <p:cNvSpPr txBox="1"/>
          <p:nvPr/>
        </p:nvSpPr>
        <p:spPr>
          <a:xfrm>
            <a:off x="9264496" y="4530256"/>
            <a:ext cx="8792523" cy="80813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Produk yang belum mereka develop </a:t>
            </a:r>
            <a:r>
              <a:rPr lang="en-US" sz="2308" b="1">
                <a:solidFill>
                  <a:srgbClr val="D5503A"/>
                </a:solidFill>
                <a:latin typeface="Canva Sans Bold"/>
                <a:ea typeface="Canva Sans Bold"/>
                <a:cs typeface="Canva Sans Bold"/>
                <a:sym typeface="Canva Sans Bold"/>
              </a:rPr>
              <a:t>Eye Makeup, Toner, Body Wash, Perfume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Freeform 2"/>
          <p:cNvSpPr/>
          <p:nvPr/>
        </p:nvSpPr>
        <p:spPr>
          <a:xfrm>
            <a:off x="174753" y="1674626"/>
            <a:ext cx="8371965" cy="5566947"/>
          </a:xfrm>
          <a:custGeom>
            <a:avLst/>
            <a:gdLst/>
            <a:ahLst/>
            <a:cxnLst/>
            <a:rect l="l" t="t" r="r" b="b"/>
            <a:pathLst>
              <a:path w="8371965" h="5566947">
                <a:moveTo>
                  <a:pt x="0" y="0"/>
                </a:moveTo>
                <a:lnTo>
                  <a:pt x="8371965" y="0"/>
                </a:lnTo>
                <a:lnTo>
                  <a:pt x="8371965" y="5566947"/>
                </a:lnTo>
                <a:lnTo>
                  <a:pt x="0" y="5566947"/>
                </a:lnTo>
                <a:lnTo>
                  <a:pt x="0" y="0"/>
                </a:lnTo>
                <a:close/>
              </a:path>
            </a:pathLst>
          </a:custGeom>
          <a:blipFill>
            <a:blip r:embed="rId2"/>
            <a:stretch>
              <a:fillRect t="-97" b="-97"/>
            </a:stretch>
          </a:blipFill>
        </p:spPr>
      </p:sp>
      <p:sp>
        <p:nvSpPr>
          <p:cNvPr id="3" name="TextBox 3"/>
          <p:cNvSpPr txBox="1"/>
          <p:nvPr/>
        </p:nvSpPr>
        <p:spPr>
          <a:xfrm>
            <a:off x="8734719" y="1627001"/>
            <a:ext cx="8786181" cy="80813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Glowsophy memiliki nilai sangat tinggi untuk jumlah varian produk. Reseller juga relatif tinggi.</a:t>
            </a:r>
          </a:p>
        </p:txBody>
      </p:sp>
      <p:sp>
        <p:nvSpPr>
          <p:cNvPr id="4" name="TextBox 4"/>
          <p:cNvSpPr txBox="1"/>
          <p:nvPr/>
        </p:nvSpPr>
        <p:spPr>
          <a:xfrm>
            <a:off x="8734719" y="2897191"/>
            <a:ext cx="8786181" cy="1217706"/>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Rerata penjualan per bulannya yang tinggi ternyata tidak sebanding dengan jumlah akuisisi customer per bulannya yang hanya ada level menengah.</a:t>
            </a:r>
          </a:p>
        </p:txBody>
      </p:sp>
      <p:sp>
        <p:nvSpPr>
          <p:cNvPr id="5" name="TextBox 5"/>
          <p:cNvSpPr txBox="1"/>
          <p:nvPr/>
        </p:nvSpPr>
        <p:spPr>
          <a:xfrm>
            <a:off x="8672310" y="6320651"/>
            <a:ext cx="8786181" cy="80813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Umur produknya masih tergolong baru, dan rating produk moisturizer dari brand ini rendah. </a:t>
            </a:r>
          </a:p>
        </p:txBody>
      </p:sp>
      <p:sp>
        <p:nvSpPr>
          <p:cNvPr id="6" name="TextBox 6"/>
          <p:cNvSpPr txBox="1"/>
          <p:nvPr/>
        </p:nvSpPr>
        <p:spPr>
          <a:xfrm>
            <a:off x="174753" y="7659631"/>
            <a:ext cx="17806143" cy="1099398"/>
          </a:xfrm>
          <a:prstGeom prst="rect">
            <a:avLst/>
          </a:prstGeom>
        </p:spPr>
        <p:txBody>
          <a:bodyPr lIns="0" tIns="0" rIns="0" bIns="0" rtlCol="0" anchor="t">
            <a:spAutoFit/>
          </a:bodyPr>
          <a:lstStyle/>
          <a:p>
            <a:pPr marL="0" lvl="0" indent="0" algn="just">
              <a:lnSpc>
                <a:spcPts val="2928"/>
              </a:lnSpc>
              <a:spcBef>
                <a:spcPct val="0"/>
              </a:spcBef>
            </a:pPr>
            <a:r>
              <a:rPr lang="en-US" sz="2091" b="1">
                <a:solidFill>
                  <a:srgbClr val="C1E328"/>
                </a:solidFill>
                <a:latin typeface="Canva Sans Bold"/>
                <a:ea typeface="Canva Sans Bold"/>
                <a:cs typeface="Canva Sans Bold"/>
                <a:sym typeface="Canva Sans Bold"/>
              </a:rPr>
              <a:t>Kesimpulan : Brand ini tergolong kuat dan akan bertambah kuat jika diiringi dengan review Rating produk yang bagus. Mereka mampu menciptakan banyak varian produk dan menjualnya dengan rerata volume penjualan yang cukup tinggi selama per bulan. Jumlah akuisisi customer per bulannya ada di level menengah dan bisa saja meningkat sewaktu-waktu. </a:t>
            </a:r>
          </a:p>
        </p:txBody>
      </p:sp>
      <p:sp>
        <p:nvSpPr>
          <p:cNvPr id="7" name="TextBox 7"/>
          <p:cNvSpPr txBox="1"/>
          <p:nvPr/>
        </p:nvSpPr>
        <p:spPr>
          <a:xfrm>
            <a:off x="251330" y="734489"/>
            <a:ext cx="16590776" cy="759278"/>
          </a:xfrm>
          <a:prstGeom prst="rect">
            <a:avLst/>
          </a:prstGeom>
        </p:spPr>
        <p:txBody>
          <a:bodyPr lIns="0" tIns="0" rIns="0" bIns="0" rtlCol="0" anchor="t">
            <a:spAutoFit/>
          </a:bodyPr>
          <a:lstStyle/>
          <a:p>
            <a:pPr algn="l">
              <a:lnSpc>
                <a:spcPts val="5616"/>
              </a:lnSpc>
            </a:pPr>
            <a:r>
              <a:rPr lang="en-US" sz="5975" b="1" spc="-125">
                <a:solidFill>
                  <a:srgbClr val="C1E328"/>
                </a:solidFill>
                <a:latin typeface="Open Sauce Bold"/>
                <a:ea typeface="Open Sauce Bold"/>
                <a:cs typeface="Open Sauce Bold"/>
                <a:sym typeface="Open Sauce Bold"/>
              </a:rPr>
              <a:t>GLOWSOPHY</a:t>
            </a:r>
          </a:p>
        </p:txBody>
      </p:sp>
      <p:sp>
        <p:nvSpPr>
          <p:cNvPr id="8" name="TextBox 8"/>
          <p:cNvSpPr txBox="1"/>
          <p:nvPr/>
        </p:nvSpPr>
        <p:spPr>
          <a:xfrm>
            <a:off x="8734719" y="4581622"/>
            <a:ext cx="8786181" cy="1217706"/>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Mereka mengikuti strategi harga brand-brand besar yang lain. Dengan menetapkan harga serendah-rendahnya brand ini mampu menarik minat customer di Shopee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Freeform 2"/>
          <p:cNvSpPr/>
          <p:nvPr/>
        </p:nvSpPr>
        <p:spPr>
          <a:xfrm>
            <a:off x="187994" y="1763043"/>
            <a:ext cx="8956006" cy="5970671"/>
          </a:xfrm>
          <a:custGeom>
            <a:avLst/>
            <a:gdLst/>
            <a:ahLst/>
            <a:cxnLst/>
            <a:rect l="l" t="t" r="r" b="b"/>
            <a:pathLst>
              <a:path w="8956006" h="5970671">
                <a:moveTo>
                  <a:pt x="0" y="0"/>
                </a:moveTo>
                <a:lnTo>
                  <a:pt x="8956006" y="0"/>
                </a:lnTo>
                <a:lnTo>
                  <a:pt x="8956006" y="5970670"/>
                </a:lnTo>
                <a:lnTo>
                  <a:pt x="0" y="5970670"/>
                </a:lnTo>
                <a:lnTo>
                  <a:pt x="0" y="0"/>
                </a:lnTo>
                <a:close/>
              </a:path>
            </a:pathLst>
          </a:custGeom>
          <a:blipFill>
            <a:blip r:embed="rId2"/>
            <a:stretch>
              <a:fillRect/>
            </a:stretch>
          </a:blipFill>
        </p:spPr>
      </p:sp>
      <p:sp>
        <p:nvSpPr>
          <p:cNvPr id="3" name="TextBox 3"/>
          <p:cNvSpPr txBox="1"/>
          <p:nvPr/>
        </p:nvSpPr>
        <p:spPr>
          <a:xfrm>
            <a:off x="276349" y="463015"/>
            <a:ext cx="14409981" cy="1046046"/>
          </a:xfrm>
          <a:prstGeom prst="rect">
            <a:avLst/>
          </a:prstGeom>
        </p:spPr>
        <p:txBody>
          <a:bodyPr lIns="0" tIns="0" rIns="0" bIns="0" rtlCol="0" anchor="t">
            <a:spAutoFit/>
          </a:bodyPr>
          <a:lstStyle/>
          <a:p>
            <a:pPr algn="l">
              <a:lnSpc>
                <a:spcPts val="4018"/>
              </a:lnSpc>
            </a:pPr>
            <a:r>
              <a:rPr lang="en-US" sz="4275" b="1" spc="-89">
                <a:solidFill>
                  <a:srgbClr val="C1E328"/>
                </a:solidFill>
                <a:latin typeface="Open Sauce Bold"/>
                <a:ea typeface="Open Sauce Bold"/>
                <a:cs typeface="Open Sauce Bold"/>
                <a:sym typeface="Open Sauce Bold"/>
              </a:rPr>
              <a:t>GLOWSOPHY : PRODUK APA YANG BEULM MEREKA DEVELOP?</a:t>
            </a:r>
          </a:p>
        </p:txBody>
      </p:sp>
      <p:sp>
        <p:nvSpPr>
          <p:cNvPr id="4" name="TextBox 4"/>
          <p:cNvSpPr txBox="1"/>
          <p:nvPr/>
        </p:nvSpPr>
        <p:spPr>
          <a:xfrm>
            <a:off x="9264496" y="1861653"/>
            <a:ext cx="8621292" cy="1217706"/>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Produk-produk yang sudah didevelop oleh Glowsophy adalah </a:t>
            </a:r>
            <a:r>
              <a:rPr lang="en-US" sz="2308" b="1">
                <a:solidFill>
                  <a:srgbClr val="23937B"/>
                </a:solidFill>
                <a:latin typeface="Canva Sans Bold"/>
                <a:ea typeface="Canva Sans Bold"/>
                <a:cs typeface="Canva Sans Bold"/>
                <a:sym typeface="Canva Sans Bold"/>
              </a:rPr>
              <a:t>Decorative Skincare, Body Wash, Sunscreen, Peeling Skincare, Moisturizer, Lip Care,Cleanser</a:t>
            </a:r>
          </a:p>
        </p:txBody>
      </p:sp>
      <p:sp>
        <p:nvSpPr>
          <p:cNvPr id="5" name="TextBox 5"/>
          <p:cNvSpPr txBox="1"/>
          <p:nvPr/>
        </p:nvSpPr>
        <p:spPr>
          <a:xfrm>
            <a:off x="9308889" y="5796220"/>
            <a:ext cx="8703736" cy="398556"/>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Brand ini membuat produk di </a:t>
            </a:r>
            <a:r>
              <a:rPr lang="en-US" sz="2308" b="1">
                <a:solidFill>
                  <a:srgbClr val="E19D4B"/>
                </a:solidFill>
                <a:latin typeface="Canva Sans Bold"/>
                <a:ea typeface="Canva Sans Bold"/>
                <a:cs typeface="Canva Sans Bold"/>
                <a:sym typeface="Canva Sans Bold"/>
              </a:rPr>
              <a:t>PT Nayue Kosmetik Indonesia</a:t>
            </a:r>
          </a:p>
        </p:txBody>
      </p:sp>
      <p:sp>
        <p:nvSpPr>
          <p:cNvPr id="6" name="TextBox 6"/>
          <p:cNvSpPr txBox="1"/>
          <p:nvPr/>
        </p:nvSpPr>
        <p:spPr>
          <a:xfrm>
            <a:off x="9220103" y="4035589"/>
            <a:ext cx="8792523" cy="808131"/>
          </a:xfrm>
          <a:prstGeom prst="rect">
            <a:avLst/>
          </a:prstGeom>
        </p:spPr>
        <p:txBody>
          <a:bodyPr lIns="0" tIns="0" rIns="0" bIns="0" rtlCol="0" anchor="t">
            <a:spAutoFit/>
          </a:bodyPr>
          <a:lstStyle/>
          <a:p>
            <a:pPr marL="0" lvl="0" indent="0" algn="just">
              <a:lnSpc>
                <a:spcPts val="3232"/>
              </a:lnSpc>
              <a:spcBef>
                <a:spcPct val="0"/>
              </a:spcBef>
            </a:pPr>
            <a:r>
              <a:rPr lang="en-US" sz="2308" b="1">
                <a:solidFill>
                  <a:srgbClr val="C1E328"/>
                </a:solidFill>
                <a:latin typeface="Canva Sans Bold"/>
                <a:ea typeface="Canva Sans Bold"/>
                <a:cs typeface="Canva Sans Bold"/>
                <a:sym typeface="Canva Sans Bold"/>
              </a:rPr>
              <a:t>Produk yang belum mereka develop </a:t>
            </a:r>
            <a:r>
              <a:rPr lang="en-US" sz="2308" b="1">
                <a:solidFill>
                  <a:srgbClr val="DE4F45"/>
                </a:solidFill>
                <a:latin typeface="Canva Sans Bold"/>
                <a:ea typeface="Canva Sans Bold"/>
                <a:cs typeface="Canva Sans Bold"/>
                <a:sym typeface="Canva Sans Bold"/>
              </a:rPr>
              <a:t>Mask, Toner, Eye Makeup, Deodorant, Sunscreen, Perfume,Serum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842256" cy="694610"/>
          </a:xfrm>
          <a:custGeom>
            <a:avLst/>
            <a:gdLst/>
            <a:ahLst/>
            <a:cxnLst/>
            <a:rect l="l" t="t" r="r" b="b"/>
            <a:pathLst>
              <a:path w="842256" h="694610">
                <a:moveTo>
                  <a:pt x="0" y="0"/>
                </a:moveTo>
                <a:lnTo>
                  <a:pt x="842256" y="0"/>
                </a:lnTo>
                <a:lnTo>
                  <a:pt x="842256" y="694610"/>
                </a:lnTo>
                <a:lnTo>
                  <a:pt x="0" y="6946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3605388" y="2265060"/>
            <a:ext cx="10744524" cy="2583988"/>
            <a:chOff x="0" y="0"/>
            <a:chExt cx="1664608" cy="400327"/>
          </a:xfrm>
        </p:grpSpPr>
        <p:sp>
          <p:nvSpPr>
            <p:cNvPr id="4" name="Freeform 4"/>
            <p:cNvSpPr/>
            <p:nvPr/>
          </p:nvSpPr>
          <p:spPr>
            <a:xfrm>
              <a:off x="0" y="0"/>
              <a:ext cx="1664608" cy="400327"/>
            </a:xfrm>
            <a:custGeom>
              <a:avLst/>
              <a:gdLst/>
              <a:ahLst/>
              <a:cxnLst/>
              <a:rect l="l" t="t" r="r" b="b"/>
              <a:pathLst>
                <a:path w="1664608" h="400327">
                  <a:moveTo>
                    <a:pt x="0" y="0"/>
                  </a:moveTo>
                  <a:lnTo>
                    <a:pt x="1664608" y="0"/>
                  </a:lnTo>
                  <a:lnTo>
                    <a:pt x="1664608" y="400327"/>
                  </a:lnTo>
                  <a:lnTo>
                    <a:pt x="0" y="400327"/>
                  </a:lnTo>
                  <a:close/>
                </a:path>
              </a:pathLst>
            </a:custGeom>
            <a:blipFill>
              <a:blip r:embed="rId4"/>
              <a:stretch>
                <a:fillRect t="-142393" b="-35160"/>
              </a:stretch>
            </a:blipFill>
          </p:spPr>
        </p:sp>
      </p:grpSp>
      <p:sp>
        <p:nvSpPr>
          <p:cNvPr id="5" name="Freeform 5"/>
          <p:cNvSpPr/>
          <p:nvPr/>
        </p:nvSpPr>
        <p:spPr>
          <a:xfrm rot="5400000">
            <a:off x="617721" y="8005064"/>
            <a:ext cx="1666940" cy="839531"/>
          </a:xfrm>
          <a:custGeom>
            <a:avLst/>
            <a:gdLst/>
            <a:ahLst/>
            <a:cxnLst/>
            <a:rect l="l" t="t" r="r" b="b"/>
            <a:pathLst>
              <a:path w="1666940" h="839531">
                <a:moveTo>
                  <a:pt x="0" y="0"/>
                </a:moveTo>
                <a:lnTo>
                  <a:pt x="1666939" y="0"/>
                </a:lnTo>
                <a:lnTo>
                  <a:pt x="1666939" y="839532"/>
                </a:lnTo>
                <a:lnTo>
                  <a:pt x="0" y="83953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2217266" y="1200935"/>
            <a:ext cx="6760384" cy="331089"/>
          </a:xfrm>
          <a:prstGeom prst="rect">
            <a:avLst/>
          </a:prstGeom>
        </p:spPr>
        <p:txBody>
          <a:bodyPr lIns="0" tIns="0" rIns="0" bIns="0" rtlCol="0" anchor="t">
            <a:spAutoFit/>
          </a:bodyPr>
          <a:lstStyle/>
          <a:p>
            <a:pPr algn="just">
              <a:lnSpc>
                <a:spcPts val="2688"/>
              </a:lnSpc>
            </a:pPr>
            <a:r>
              <a:rPr lang="en-US" sz="2100" b="1" spc="98">
                <a:solidFill>
                  <a:srgbClr val="C1E328"/>
                </a:solidFill>
                <a:latin typeface="Open Sauce Bold"/>
                <a:ea typeface="Open Sauce Bold"/>
                <a:cs typeface="Open Sauce Bold"/>
                <a:sym typeface="Open Sauce Bold"/>
              </a:rPr>
              <a:t>PT NOSE HERBALINDO</a:t>
            </a:r>
          </a:p>
        </p:txBody>
      </p:sp>
      <p:sp>
        <p:nvSpPr>
          <p:cNvPr id="7" name="TextBox 7"/>
          <p:cNvSpPr txBox="1"/>
          <p:nvPr/>
        </p:nvSpPr>
        <p:spPr>
          <a:xfrm>
            <a:off x="5164915" y="5772973"/>
            <a:ext cx="7625471" cy="1978661"/>
          </a:xfrm>
          <a:prstGeom prst="rect">
            <a:avLst/>
          </a:prstGeom>
        </p:spPr>
        <p:txBody>
          <a:bodyPr lIns="0" tIns="0" rIns="0" bIns="0" rtlCol="0" anchor="t">
            <a:spAutoFit/>
          </a:bodyPr>
          <a:lstStyle/>
          <a:p>
            <a:pPr algn="ctr">
              <a:lnSpc>
                <a:spcPts val="7520"/>
              </a:lnSpc>
            </a:pPr>
            <a:r>
              <a:rPr lang="en-US" sz="8000" b="1" spc="-168">
                <a:solidFill>
                  <a:srgbClr val="C1E328"/>
                </a:solidFill>
                <a:latin typeface="Open Sauce Bold"/>
                <a:ea typeface="Open Sauce Bold"/>
                <a:cs typeface="Open Sauce Bold"/>
                <a:sym typeface="Open Sauce Bold"/>
              </a:rPr>
              <a:t>PRODUCT OVERVIEW</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07572" y="501863"/>
            <a:ext cx="1114989" cy="919533"/>
          </a:xfrm>
          <a:custGeom>
            <a:avLst/>
            <a:gdLst/>
            <a:ahLst/>
            <a:cxnLst/>
            <a:rect l="l" t="t" r="r" b="b"/>
            <a:pathLst>
              <a:path w="1114989" h="919533">
                <a:moveTo>
                  <a:pt x="0" y="0"/>
                </a:moveTo>
                <a:lnTo>
                  <a:pt x="1114989" y="0"/>
                </a:lnTo>
                <a:lnTo>
                  <a:pt x="1114989" y="919533"/>
                </a:lnTo>
                <a:lnTo>
                  <a:pt x="0" y="9195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AutoShape 3"/>
          <p:cNvSpPr/>
          <p:nvPr/>
        </p:nvSpPr>
        <p:spPr>
          <a:xfrm>
            <a:off x="9595466" y="1478546"/>
            <a:ext cx="7663834" cy="0"/>
          </a:xfrm>
          <a:prstGeom prst="line">
            <a:avLst/>
          </a:prstGeom>
          <a:ln w="114300" cap="flat">
            <a:solidFill>
              <a:srgbClr val="C1E328"/>
            </a:solidFill>
            <a:prstDash val="solid"/>
            <a:headEnd type="none" w="sm" len="sm"/>
            <a:tailEnd type="none" w="sm" len="sm"/>
          </a:ln>
        </p:spPr>
      </p:sp>
      <p:sp>
        <p:nvSpPr>
          <p:cNvPr id="4" name="TextBox 4"/>
          <p:cNvSpPr txBox="1"/>
          <p:nvPr/>
        </p:nvSpPr>
        <p:spPr>
          <a:xfrm>
            <a:off x="1839752" y="767978"/>
            <a:ext cx="16212666" cy="538711"/>
          </a:xfrm>
          <a:prstGeom prst="rect">
            <a:avLst/>
          </a:prstGeom>
        </p:spPr>
        <p:txBody>
          <a:bodyPr lIns="0" tIns="0" rIns="0" bIns="0" rtlCol="0" anchor="t">
            <a:spAutoFit/>
          </a:bodyPr>
          <a:lstStyle/>
          <a:p>
            <a:pPr algn="l">
              <a:lnSpc>
                <a:spcPts val="3947"/>
              </a:lnSpc>
            </a:pPr>
            <a:r>
              <a:rPr lang="en-US" sz="4199" b="1" spc="-88">
                <a:solidFill>
                  <a:srgbClr val="21211F"/>
                </a:solidFill>
                <a:latin typeface="Open Sauce Bold"/>
                <a:ea typeface="Open Sauce Bold"/>
                <a:cs typeface="Open Sauce Bold"/>
                <a:sym typeface="Open Sauce Bold"/>
              </a:rPr>
              <a:t>SKINTIFIC 5X CERAMIDE PALING LARIS BULAN INI!</a:t>
            </a:r>
          </a:p>
        </p:txBody>
      </p:sp>
      <p:pic>
        <p:nvPicPr>
          <p:cNvPr id="5" name="Picture 5"/>
          <p:cNvPicPr>
            <a:picLocks noChangeAspect="1"/>
          </p:cNvPicPr>
          <p:nvPr/>
        </p:nvPicPr>
        <p:blipFill>
          <a:blip r:embed="rId4"/>
          <a:stretch>
            <a:fillRect/>
          </a:stretch>
        </p:blipFill>
        <p:spPr>
          <a:xfrm>
            <a:off x="-1338942" y="119689"/>
            <a:ext cx="21154212" cy="1170556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07572" y="501863"/>
            <a:ext cx="1114989" cy="919533"/>
          </a:xfrm>
          <a:custGeom>
            <a:avLst/>
            <a:gdLst/>
            <a:ahLst/>
            <a:cxnLst/>
            <a:rect l="l" t="t" r="r" b="b"/>
            <a:pathLst>
              <a:path w="1114989" h="919533">
                <a:moveTo>
                  <a:pt x="0" y="0"/>
                </a:moveTo>
                <a:lnTo>
                  <a:pt x="1114989" y="0"/>
                </a:lnTo>
                <a:lnTo>
                  <a:pt x="1114989" y="919533"/>
                </a:lnTo>
                <a:lnTo>
                  <a:pt x="0" y="9195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AutoShape 3"/>
          <p:cNvSpPr/>
          <p:nvPr/>
        </p:nvSpPr>
        <p:spPr>
          <a:xfrm>
            <a:off x="9595466" y="1478546"/>
            <a:ext cx="7663834" cy="0"/>
          </a:xfrm>
          <a:prstGeom prst="line">
            <a:avLst/>
          </a:prstGeom>
          <a:ln w="114300" cap="flat">
            <a:solidFill>
              <a:srgbClr val="C1E328"/>
            </a:solidFill>
            <a:prstDash val="solid"/>
            <a:headEnd type="none" w="sm" len="sm"/>
            <a:tailEnd type="none" w="sm" len="sm"/>
          </a:ln>
        </p:spPr>
      </p:sp>
      <p:sp>
        <p:nvSpPr>
          <p:cNvPr id="4" name="TextBox 4"/>
          <p:cNvSpPr txBox="1"/>
          <p:nvPr/>
        </p:nvSpPr>
        <p:spPr>
          <a:xfrm>
            <a:off x="1839752" y="748928"/>
            <a:ext cx="15173949" cy="380897"/>
          </a:xfrm>
          <a:prstGeom prst="rect">
            <a:avLst/>
          </a:prstGeom>
        </p:spPr>
        <p:txBody>
          <a:bodyPr lIns="0" tIns="0" rIns="0" bIns="0" rtlCol="0" anchor="t">
            <a:spAutoFit/>
          </a:bodyPr>
          <a:lstStyle/>
          <a:p>
            <a:pPr algn="l">
              <a:lnSpc>
                <a:spcPts val="2846"/>
              </a:lnSpc>
            </a:pPr>
            <a:r>
              <a:rPr lang="en-US" sz="3027" b="1" spc="-63">
                <a:solidFill>
                  <a:srgbClr val="21211F"/>
                </a:solidFill>
                <a:latin typeface="Open Sauce Bold"/>
                <a:ea typeface="Open Sauce Bold"/>
                <a:cs typeface="Open Sauce Bold"/>
                <a:sym typeface="Open Sauce Bold"/>
              </a:rPr>
              <a:t>SKINTIFIC 5X GA CUMAN PALING LARIS, TAPI JUGA PALING CUAN!</a:t>
            </a:r>
          </a:p>
        </p:txBody>
      </p:sp>
      <p:pic>
        <p:nvPicPr>
          <p:cNvPr id="5" name="Picture 5"/>
          <p:cNvPicPr>
            <a:picLocks noChangeAspect="1"/>
          </p:cNvPicPr>
          <p:nvPr/>
        </p:nvPicPr>
        <p:blipFill>
          <a:blip r:embed="rId4"/>
          <a:stretch>
            <a:fillRect/>
          </a:stretch>
        </p:blipFill>
        <p:spPr>
          <a:xfrm>
            <a:off x="-1105725" y="119474"/>
            <a:ext cx="21156791" cy="1171811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07572" y="501863"/>
            <a:ext cx="1114989" cy="919533"/>
          </a:xfrm>
          <a:custGeom>
            <a:avLst/>
            <a:gdLst/>
            <a:ahLst/>
            <a:cxnLst/>
            <a:rect l="l" t="t" r="r" b="b"/>
            <a:pathLst>
              <a:path w="1114989" h="919533">
                <a:moveTo>
                  <a:pt x="0" y="0"/>
                </a:moveTo>
                <a:lnTo>
                  <a:pt x="1114989" y="0"/>
                </a:lnTo>
                <a:lnTo>
                  <a:pt x="1114989" y="919533"/>
                </a:lnTo>
                <a:lnTo>
                  <a:pt x="0" y="9195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AutoShape 3"/>
          <p:cNvSpPr/>
          <p:nvPr/>
        </p:nvSpPr>
        <p:spPr>
          <a:xfrm>
            <a:off x="9595466" y="1333089"/>
            <a:ext cx="7663834" cy="0"/>
          </a:xfrm>
          <a:prstGeom prst="line">
            <a:avLst/>
          </a:prstGeom>
          <a:ln w="114300" cap="flat">
            <a:solidFill>
              <a:srgbClr val="C1E328"/>
            </a:solidFill>
            <a:prstDash val="solid"/>
            <a:headEnd type="none" w="sm" len="sm"/>
            <a:tailEnd type="none" w="sm" len="sm"/>
          </a:ln>
        </p:spPr>
      </p:sp>
      <p:graphicFrame>
        <p:nvGraphicFramePr>
          <p:cNvPr id="4" name="Object 4"/>
          <p:cNvGraphicFramePr/>
          <p:nvPr/>
        </p:nvGraphicFramePr>
        <p:xfrm>
          <a:off x="2203241" y="1637479"/>
          <a:ext cx="5248275" cy="8801100"/>
        </p:xfrm>
        <a:graphic>
          <a:graphicData uri="http://schemas.openxmlformats.org/presentationml/2006/ole">
            <mc:AlternateContent xmlns:mc="http://schemas.openxmlformats.org/markup-compatibility/2006">
              <mc:Choice xmlns:v="urn:schemas-microsoft-com:vml" Requires="v">
                <p:oleObj name="Worksheet" r:id="rId4" imgW="7010400" imgH="10553700" progId="Excel.Sheet.12">
                  <p:embed/>
                </p:oleObj>
              </mc:Choice>
              <mc:Fallback>
                <p:oleObj name="Worksheet" r:id="rId4" imgW="7010400" imgH="10553700" progId="Excel.Sheet.12">
                  <p:embed/>
                  <p:pic>
                    <p:nvPicPr>
                      <p:cNvPr id="0" name=""/>
                      <p:cNvPicPr/>
                      <p:nvPr/>
                    </p:nvPicPr>
                    <p:blipFill>
                      <a:blip r:embed="rId5"/>
                      <a:stretch>
                        <a:fillRect/>
                      </a:stretch>
                    </p:blipFill>
                    <p:spPr>
                      <a:xfrm>
                        <a:off x="2203241" y="1637479"/>
                        <a:ext cx="5248275" cy="8801100"/>
                      </a:xfrm>
                      <a:prstGeom prst="rect">
                        <a:avLst/>
                      </a:prstGeom>
                    </p:spPr>
                  </p:pic>
                </p:oleObj>
              </mc:Fallback>
            </mc:AlternateContent>
          </a:graphicData>
        </a:graphic>
      </p:graphicFrame>
      <p:sp>
        <p:nvSpPr>
          <p:cNvPr id="5" name="TextBox 5"/>
          <p:cNvSpPr txBox="1"/>
          <p:nvPr/>
        </p:nvSpPr>
        <p:spPr>
          <a:xfrm>
            <a:off x="1839752" y="546146"/>
            <a:ext cx="16212666" cy="482554"/>
          </a:xfrm>
          <a:prstGeom prst="rect">
            <a:avLst/>
          </a:prstGeom>
        </p:spPr>
        <p:txBody>
          <a:bodyPr lIns="0" tIns="0" rIns="0" bIns="0" rtlCol="0" anchor="t">
            <a:spAutoFit/>
          </a:bodyPr>
          <a:lstStyle/>
          <a:p>
            <a:pPr algn="l">
              <a:lnSpc>
                <a:spcPts val="3571"/>
              </a:lnSpc>
            </a:pPr>
            <a:r>
              <a:rPr lang="en-US" sz="3799" b="1" spc="-79">
                <a:solidFill>
                  <a:srgbClr val="21211F"/>
                </a:solidFill>
                <a:latin typeface="Open Sauce Bold"/>
                <a:ea typeface="Open Sauce Bold"/>
                <a:cs typeface="Open Sauce Bold"/>
                <a:sym typeface="Open Sauce Bold"/>
              </a:rPr>
              <a:t>DAFTAR PRODUK DAN MANUFAKTURNYA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842256" cy="694610"/>
          </a:xfrm>
          <a:custGeom>
            <a:avLst/>
            <a:gdLst/>
            <a:ahLst/>
            <a:cxnLst/>
            <a:rect l="l" t="t" r="r" b="b"/>
            <a:pathLst>
              <a:path w="842256" h="694610">
                <a:moveTo>
                  <a:pt x="0" y="0"/>
                </a:moveTo>
                <a:lnTo>
                  <a:pt x="842256" y="0"/>
                </a:lnTo>
                <a:lnTo>
                  <a:pt x="842256" y="694610"/>
                </a:lnTo>
                <a:lnTo>
                  <a:pt x="0" y="6946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3605388" y="2265060"/>
            <a:ext cx="10744524" cy="2583988"/>
            <a:chOff x="0" y="0"/>
            <a:chExt cx="1664608" cy="400327"/>
          </a:xfrm>
        </p:grpSpPr>
        <p:sp>
          <p:nvSpPr>
            <p:cNvPr id="4" name="Freeform 4"/>
            <p:cNvSpPr/>
            <p:nvPr/>
          </p:nvSpPr>
          <p:spPr>
            <a:xfrm>
              <a:off x="0" y="0"/>
              <a:ext cx="1664608" cy="400327"/>
            </a:xfrm>
            <a:custGeom>
              <a:avLst/>
              <a:gdLst/>
              <a:ahLst/>
              <a:cxnLst/>
              <a:rect l="l" t="t" r="r" b="b"/>
              <a:pathLst>
                <a:path w="1664608" h="400327">
                  <a:moveTo>
                    <a:pt x="0" y="0"/>
                  </a:moveTo>
                  <a:lnTo>
                    <a:pt x="1664608" y="0"/>
                  </a:lnTo>
                  <a:lnTo>
                    <a:pt x="1664608" y="400327"/>
                  </a:lnTo>
                  <a:lnTo>
                    <a:pt x="0" y="400327"/>
                  </a:lnTo>
                  <a:close/>
                </a:path>
              </a:pathLst>
            </a:custGeom>
            <a:blipFill>
              <a:blip r:embed="rId4"/>
              <a:stretch>
                <a:fillRect t="-142393" b="-35160"/>
              </a:stretch>
            </a:blipFill>
          </p:spPr>
        </p:sp>
      </p:grpSp>
      <p:sp>
        <p:nvSpPr>
          <p:cNvPr id="5" name="Freeform 5"/>
          <p:cNvSpPr/>
          <p:nvPr/>
        </p:nvSpPr>
        <p:spPr>
          <a:xfrm rot="5400000">
            <a:off x="617721" y="8005064"/>
            <a:ext cx="1666940" cy="839531"/>
          </a:xfrm>
          <a:custGeom>
            <a:avLst/>
            <a:gdLst/>
            <a:ahLst/>
            <a:cxnLst/>
            <a:rect l="l" t="t" r="r" b="b"/>
            <a:pathLst>
              <a:path w="1666940" h="839531">
                <a:moveTo>
                  <a:pt x="0" y="0"/>
                </a:moveTo>
                <a:lnTo>
                  <a:pt x="1666939" y="0"/>
                </a:lnTo>
                <a:lnTo>
                  <a:pt x="1666939" y="839532"/>
                </a:lnTo>
                <a:lnTo>
                  <a:pt x="0" y="83953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2217266" y="1200935"/>
            <a:ext cx="6760384" cy="331089"/>
          </a:xfrm>
          <a:prstGeom prst="rect">
            <a:avLst/>
          </a:prstGeom>
        </p:spPr>
        <p:txBody>
          <a:bodyPr lIns="0" tIns="0" rIns="0" bIns="0" rtlCol="0" anchor="t">
            <a:spAutoFit/>
          </a:bodyPr>
          <a:lstStyle/>
          <a:p>
            <a:pPr algn="just">
              <a:lnSpc>
                <a:spcPts val="2688"/>
              </a:lnSpc>
            </a:pPr>
            <a:r>
              <a:rPr lang="en-US" sz="2100" b="1" spc="98">
                <a:solidFill>
                  <a:srgbClr val="C1E328"/>
                </a:solidFill>
                <a:latin typeface="Open Sauce Bold"/>
                <a:ea typeface="Open Sauce Bold"/>
                <a:cs typeface="Open Sauce Bold"/>
                <a:sym typeface="Open Sauce Bold"/>
              </a:rPr>
              <a:t>PT NOSE HERBALINDO</a:t>
            </a:r>
          </a:p>
        </p:txBody>
      </p:sp>
      <p:sp>
        <p:nvSpPr>
          <p:cNvPr id="7" name="TextBox 7"/>
          <p:cNvSpPr txBox="1"/>
          <p:nvPr/>
        </p:nvSpPr>
        <p:spPr>
          <a:xfrm>
            <a:off x="4407097" y="5801548"/>
            <a:ext cx="9473805" cy="2167387"/>
          </a:xfrm>
          <a:prstGeom prst="rect">
            <a:avLst/>
          </a:prstGeom>
        </p:spPr>
        <p:txBody>
          <a:bodyPr lIns="0" tIns="0" rIns="0" bIns="0" rtlCol="0" anchor="t">
            <a:spAutoFit/>
          </a:bodyPr>
          <a:lstStyle/>
          <a:p>
            <a:pPr algn="ctr">
              <a:lnSpc>
                <a:spcPts val="8282"/>
              </a:lnSpc>
            </a:pPr>
            <a:r>
              <a:rPr lang="en-US" sz="8811" b="1" spc="-185">
                <a:solidFill>
                  <a:srgbClr val="C1E328"/>
                </a:solidFill>
                <a:latin typeface="Open Sauce Bold"/>
                <a:ea typeface="Open Sauce Bold"/>
                <a:cs typeface="Open Sauce Bold"/>
                <a:sym typeface="Open Sauce Bold"/>
              </a:rPr>
              <a:t>PREFERENSI MASYARAKAT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TextBox 2"/>
          <p:cNvSpPr txBox="1"/>
          <p:nvPr/>
        </p:nvSpPr>
        <p:spPr>
          <a:xfrm>
            <a:off x="773470" y="432588"/>
            <a:ext cx="14492385" cy="1081727"/>
          </a:xfrm>
          <a:prstGeom prst="rect">
            <a:avLst/>
          </a:prstGeom>
        </p:spPr>
        <p:txBody>
          <a:bodyPr lIns="0" tIns="0" rIns="0" bIns="0" rtlCol="0" anchor="t">
            <a:spAutoFit/>
          </a:bodyPr>
          <a:lstStyle/>
          <a:p>
            <a:pPr algn="l">
              <a:lnSpc>
                <a:spcPts val="4151"/>
              </a:lnSpc>
            </a:pPr>
            <a:r>
              <a:rPr lang="en-US" sz="4416" b="1" spc="-92">
                <a:solidFill>
                  <a:srgbClr val="C1E328"/>
                </a:solidFill>
                <a:latin typeface="Open Sauce Bold"/>
                <a:ea typeface="Open Sauce Bold"/>
                <a:cs typeface="Open Sauce Bold"/>
                <a:sym typeface="Open Sauce Bold"/>
              </a:rPr>
              <a:t>PRODUK DI RENTANG 127700 - 224980 PALING SERING DIBELI DI BULAN FEBRUARI 2026!</a:t>
            </a:r>
          </a:p>
        </p:txBody>
      </p:sp>
      <p:pic>
        <p:nvPicPr>
          <p:cNvPr id="3" name="Picture 3"/>
          <p:cNvPicPr>
            <a:picLocks noChangeAspect="1"/>
          </p:cNvPicPr>
          <p:nvPr/>
        </p:nvPicPr>
        <p:blipFill>
          <a:blip r:embed="rId2"/>
          <a:stretch>
            <a:fillRect/>
          </a:stretch>
        </p:blipFill>
        <p:spPr>
          <a:xfrm>
            <a:off x="-823972" y="225496"/>
            <a:ext cx="19169303" cy="1106914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TextBox 2"/>
          <p:cNvSpPr txBox="1"/>
          <p:nvPr/>
        </p:nvSpPr>
        <p:spPr>
          <a:xfrm>
            <a:off x="773470" y="432588"/>
            <a:ext cx="14492385" cy="1081727"/>
          </a:xfrm>
          <a:prstGeom prst="rect">
            <a:avLst/>
          </a:prstGeom>
        </p:spPr>
        <p:txBody>
          <a:bodyPr lIns="0" tIns="0" rIns="0" bIns="0" rtlCol="0" anchor="t">
            <a:spAutoFit/>
          </a:bodyPr>
          <a:lstStyle/>
          <a:p>
            <a:pPr algn="l">
              <a:lnSpc>
                <a:spcPts val="4151"/>
              </a:lnSpc>
            </a:pPr>
            <a:r>
              <a:rPr lang="en-US" sz="4416" b="1" spc="-92">
                <a:solidFill>
                  <a:srgbClr val="C1E328"/>
                </a:solidFill>
                <a:latin typeface="Open Sauce Bold"/>
                <a:ea typeface="Open Sauce Bold"/>
                <a:cs typeface="Open Sauce Bold"/>
                <a:sym typeface="Open Sauce Bold"/>
              </a:rPr>
              <a:t>PRODUK DENGAN FUNGSI “BRIGHTENING” PALING TINGGI PENJUALANNYA DI BULAN FEBRUARI 2026!</a:t>
            </a:r>
          </a:p>
        </p:txBody>
      </p:sp>
      <p:pic>
        <p:nvPicPr>
          <p:cNvPr id="3" name="Picture 3"/>
          <p:cNvPicPr>
            <a:picLocks noChangeAspect="1"/>
          </p:cNvPicPr>
          <p:nvPr/>
        </p:nvPicPr>
        <p:blipFill>
          <a:blip r:embed="rId2"/>
          <a:stretch>
            <a:fillRect/>
          </a:stretch>
        </p:blipFill>
        <p:spPr>
          <a:xfrm>
            <a:off x="-1120259" y="86529"/>
            <a:ext cx="20836908" cy="1134707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Freeform 2"/>
          <p:cNvSpPr/>
          <p:nvPr/>
        </p:nvSpPr>
        <p:spPr>
          <a:xfrm>
            <a:off x="607572" y="525376"/>
            <a:ext cx="842256" cy="694610"/>
          </a:xfrm>
          <a:custGeom>
            <a:avLst/>
            <a:gdLst/>
            <a:ahLst/>
            <a:cxnLst/>
            <a:rect l="l" t="t" r="r" b="b"/>
            <a:pathLst>
              <a:path w="842256" h="694610">
                <a:moveTo>
                  <a:pt x="0" y="0"/>
                </a:moveTo>
                <a:lnTo>
                  <a:pt x="842256" y="0"/>
                </a:lnTo>
                <a:lnTo>
                  <a:pt x="842256" y="694609"/>
                </a:lnTo>
                <a:lnTo>
                  <a:pt x="0" y="6946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245563" y="1721000"/>
            <a:ext cx="4084874" cy="4114800"/>
          </a:xfrm>
          <a:custGeom>
            <a:avLst/>
            <a:gdLst/>
            <a:ahLst/>
            <a:cxnLst/>
            <a:rect l="l" t="t" r="r" b="b"/>
            <a:pathLst>
              <a:path w="4084874" h="4114800">
                <a:moveTo>
                  <a:pt x="0" y="0"/>
                </a:moveTo>
                <a:lnTo>
                  <a:pt x="4084874" y="0"/>
                </a:lnTo>
                <a:lnTo>
                  <a:pt x="408487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4327501" y="1376005"/>
            <a:ext cx="7748611" cy="3594547"/>
            <a:chOff x="0" y="0"/>
            <a:chExt cx="2671831" cy="1239451"/>
          </a:xfrm>
        </p:grpSpPr>
        <p:sp>
          <p:nvSpPr>
            <p:cNvPr id="5" name="Freeform 5"/>
            <p:cNvSpPr/>
            <p:nvPr/>
          </p:nvSpPr>
          <p:spPr>
            <a:xfrm>
              <a:off x="0" y="0"/>
              <a:ext cx="2671831" cy="1239451"/>
            </a:xfrm>
            <a:custGeom>
              <a:avLst/>
              <a:gdLst/>
              <a:ahLst/>
              <a:cxnLst/>
              <a:rect l="l" t="t" r="r" b="b"/>
              <a:pathLst>
                <a:path w="2671831" h="1239451">
                  <a:moveTo>
                    <a:pt x="0" y="0"/>
                  </a:moveTo>
                  <a:lnTo>
                    <a:pt x="2671831" y="0"/>
                  </a:lnTo>
                  <a:lnTo>
                    <a:pt x="2671831" y="1239451"/>
                  </a:lnTo>
                  <a:lnTo>
                    <a:pt x="0" y="1239451"/>
                  </a:lnTo>
                  <a:close/>
                </a:path>
              </a:pathLst>
            </a:custGeom>
            <a:blipFill>
              <a:blip r:embed="rId6"/>
              <a:stretch>
                <a:fillRect t="-21810" b="-21810"/>
              </a:stretch>
            </a:blipFill>
          </p:spPr>
        </p:sp>
      </p:grpSp>
      <p:sp>
        <p:nvSpPr>
          <p:cNvPr id="6" name="TextBox 6"/>
          <p:cNvSpPr txBox="1"/>
          <p:nvPr/>
        </p:nvSpPr>
        <p:spPr>
          <a:xfrm>
            <a:off x="4327501" y="5581650"/>
            <a:ext cx="8027034" cy="4367043"/>
          </a:xfrm>
          <a:prstGeom prst="rect">
            <a:avLst/>
          </a:prstGeom>
        </p:spPr>
        <p:txBody>
          <a:bodyPr lIns="0" tIns="0" rIns="0" bIns="0" rtlCol="0" anchor="t">
            <a:spAutoFit/>
          </a:bodyPr>
          <a:lstStyle/>
          <a:p>
            <a:pPr algn="l">
              <a:lnSpc>
                <a:spcPts val="16719"/>
              </a:lnSpc>
            </a:pPr>
            <a:r>
              <a:rPr lang="en-US" sz="17786" b="1" spc="-373">
                <a:solidFill>
                  <a:srgbClr val="C1E328"/>
                </a:solidFill>
                <a:latin typeface="Open Sauce Bold"/>
                <a:ea typeface="Open Sauce Bold"/>
                <a:cs typeface="Open Sauce Bold"/>
                <a:sym typeface="Open Sauce Bold"/>
              </a:rPr>
              <a:t>THANK YOU.</a:t>
            </a:r>
          </a:p>
        </p:txBody>
      </p:sp>
      <p:sp>
        <p:nvSpPr>
          <p:cNvPr id="7" name="TextBox 7"/>
          <p:cNvSpPr txBox="1"/>
          <p:nvPr/>
        </p:nvSpPr>
        <p:spPr>
          <a:xfrm>
            <a:off x="1798569" y="697611"/>
            <a:ext cx="5057863" cy="331089"/>
          </a:xfrm>
          <a:prstGeom prst="rect">
            <a:avLst/>
          </a:prstGeom>
        </p:spPr>
        <p:txBody>
          <a:bodyPr lIns="0" tIns="0" rIns="0" bIns="0" rtlCol="0" anchor="t">
            <a:spAutoFit/>
          </a:bodyPr>
          <a:lstStyle/>
          <a:p>
            <a:pPr algn="just">
              <a:lnSpc>
                <a:spcPts val="2688"/>
              </a:lnSpc>
            </a:pPr>
            <a:r>
              <a:rPr lang="en-US" sz="2100" b="1" spc="98">
                <a:solidFill>
                  <a:srgbClr val="C1E328"/>
                </a:solidFill>
                <a:latin typeface="Open Sauce Bold"/>
                <a:ea typeface="Open Sauce Bold"/>
                <a:cs typeface="Open Sauce Bold"/>
                <a:sym typeface="Open Sauce Bold"/>
              </a:rPr>
              <a:t>PT NOSE HERBALINDO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1359</Words>
  <Application>Microsoft Office PowerPoint</Application>
  <PresentationFormat>Custom</PresentationFormat>
  <Paragraphs>81</Paragraphs>
  <Slides>26</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4" baseType="lpstr">
      <vt:lpstr>Arial</vt:lpstr>
      <vt:lpstr>Calibri</vt:lpstr>
      <vt:lpstr>Open Sauce Bold</vt:lpstr>
      <vt:lpstr>Open Sauce Light</vt:lpstr>
      <vt:lpstr>Canva Sans Bold</vt:lpstr>
      <vt:lpstr>Canva Sans Bold Italics</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TEMPLATE_AUTO_PPT</dc:title>
  <cp:lastModifiedBy>user 20251128a</cp:lastModifiedBy>
  <cp:revision>4</cp:revision>
  <dcterms:created xsi:type="dcterms:W3CDTF">2006-08-16T00:00:00Z</dcterms:created>
  <dcterms:modified xsi:type="dcterms:W3CDTF">2026-03-04T02:45:04Z</dcterms:modified>
  <dc:identifier>DAHC29TQbLo</dc:identifier>
</cp:coreProperties>
</file>