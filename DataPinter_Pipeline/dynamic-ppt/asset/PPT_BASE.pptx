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8288000" cy="10287000"/>
  <p:notesSz cx="6858000" cy="9144000"/>
  <p:embeddedFontLst>
    <p:embeddedFont>
      <p:font typeface="Open Sauce Bold" panose="020B0604020202020204" charset="0"/>
      <p:regular r:id="rId11"/>
    </p:embeddedFont>
    <p:embeddedFont>
      <p:font typeface="Open Sauce Light" panose="020B0604020202020204" charset="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7" d="100"/>
          <a:sy n="47" d="100"/>
        </p:scale>
        <p:origin x="500" y="2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jpeg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19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sv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2.svg"/><Relationship Id="rId7" Type="http://schemas.openxmlformats.org/officeDocument/2006/relationships/image" Target="../media/image23.svg"/><Relationship Id="rId12" Type="http://schemas.openxmlformats.org/officeDocument/2006/relationships/image" Target="../media/image28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11" Type="http://schemas.openxmlformats.org/officeDocument/2006/relationships/image" Target="../media/image27.svg"/><Relationship Id="rId5" Type="http://schemas.openxmlformats.org/officeDocument/2006/relationships/image" Target="../media/image21.svg"/><Relationship Id="rId10" Type="http://schemas.openxmlformats.org/officeDocument/2006/relationships/image" Target="../media/image26.png"/><Relationship Id="rId4" Type="http://schemas.openxmlformats.org/officeDocument/2006/relationships/image" Target="../media/image20.png"/><Relationship Id="rId9" Type="http://schemas.openxmlformats.org/officeDocument/2006/relationships/image" Target="../media/image2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1028700"/>
            <a:ext cx="842256" cy="694610"/>
          </a:xfrm>
          <a:custGeom>
            <a:avLst/>
            <a:gdLst/>
            <a:ahLst/>
            <a:cxnLst/>
            <a:rect l="l" t="t" r="r" b="b"/>
            <a:pathLst>
              <a:path w="842256" h="694610">
                <a:moveTo>
                  <a:pt x="0" y="0"/>
                </a:moveTo>
                <a:lnTo>
                  <a:pt x="842256" y="0"/>
                </a:lnTo>
                <a:lnTo>
                  <a:pt x="842256" y="694610"/>
                </a:lnTo>
                <a:lnTo>
                  <a:pt x="0" y="6946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00" y="3515169"/>
            <a:ext cx="10496758" cy="62105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796"/>
              </a:lnSpc>
            </a:pPr>
            <a:r>
              <a:rPr lang="en-US" sz="25315" b="1" spc="-531" dirty="0">
                <a:solidFill>
                  <a:srgbClr val="C1E328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PITCH DECK.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4070144" y="1123211"/>
            <a:ext cx="3189156" cy="2693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73"/>
              </a:lnSpc>
            </a:pPr>
            <a:r>
              <a:rPr lang="en-US" sz="2100" b="1" spc="98">
                <a:solidFill>
                  <a:srgbClr val="C1E328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SEPTEMBER 2025 |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32612" y="681395"/>
            <a:ext cx="842256" cy="694610"/>
          </a:xfrm>
          <a:custGeom>
            <a:avLst/>
            <a:gdLst/>
            <a:ahLst/>
            <a:cxnLst/>
            <a:rect l="l" t="t" r="r" b="b"/>
            <a:pathLst>
              <a:path w="842256" h="694610">
                <a:moveTo>
                  <a:pt x="0" y="0"/>
                </a:moveTo>
                <a:lnTo>
                  <a:pt x="842257" y="0"/>
                </a:lnTo>
                <a:lnTo>
                  <a:pt x="842257" y="694610"/>
                </a:lnTo>
                <a:lnTo>
                  <a:pt x="0" y="6946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4392097" y="2310213"/>
            <a:ext cx="6308378" cy="2583988"/>
            <a:chOff x="0" y="0"/>
            <a:chExt cx="977333" cy="40032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977333" cy="400327"/>
            </a:xfrm>
            <a:custGeom>
              <a:avLst/>
              <a:gdLst/>
              <a:ahLst/>
              <a:cxnLst/>
              <a:rect l="l" t="t" r="r" b="b"/>
              <a:pathLst>
                <a:path w="977333" h="400327">
                  <a:moveTo>
                    <a:pt x="0" y="0"/>
                  </a:moveTo>
                  <a:lnTo>
                    <a:pt x="977333" y="0"/>
                  </a:lnTo>
                  <a:lnTo>
                    <a:pt x="977333" y="400327"/>
                  </a:lnTo>
                  <a:lnTo>
                    <a:pt x="0" y="400327"/>
                  </a:lnTo>
                  <a:close/>
                </a:path>
              </a:pathLst>
            </a:custGeom>
            <a:blipFill>
              <a:blip r:embed="rId4"/>
              <a:stretch>
                <a:fillRect t="-62959"/>
              </a:stretch>
            </a:blipFill>
          </p:spPr>
        </p:sp>
      </p:grpSp>
      <p:sp>
        <p:nvSpPr>
          <p:cNvPr id="5" name="Freeform 5"/>
          <p:cNvSpPr/>
          <p:nvPr/>
        </p:nvSpPr>
        <p:spPr>
          <a:xfrm rot="5400000">
            <a:off x="617721" y="8005064"/>
            <a:ext cx="1666940" cy="839531"/>
          </a:xfrm>
          <a:custGeom>
            <a:avLst/>
            <a:gdLst/>
            <a:ahLst/>
            <a:cxnLst/>
            <a:rect l="l" t="t" r="r" b="b"/>
            <a:pathLst>
              <a:path w="1666940" h="839531">
                <a:moveTo>
                  <a:pt x="0" y="0"/>
                </a:moveTo>
                <a:lnTo>
                  <a:pt x="1666939" y="0"/>
                </a:lnTo>
                <a:lnTo>
                  <a:pt x="1666939" y="839532"/>
                </a:lnTo>
                <a:lnTo>
                  <a:pt x="0" y="83953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4392097" y="5382338"/>
            <a:ext cx="5759843" cy="19786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20"/>
              </a:lnSpc>
            </a:pPr>
            <a:r>
              <a:rPr lang="en-US" sz="8000" b="1" spc="-168">
                <a:solidFill>
                  <a:srgbClr val="C1E328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THE PROBLEM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392097" y="7389574"/>
            <a:ext cx="5431650" cy="16234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2100" spc="33">
                <a:solidFill>
                  <a:srgbClr val="C1E328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In growing urban areas, students and young professionals often find it difficult to maintain a healthy lifestyle due to time constraints, high costs, and limited access to wellness resources.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400612" y="7351474"/>
            <a:ext cx="5858688" cy="16234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2100" spc="33">
                <a:solidFill>
                  <a:srgbClr val="C1E328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Neglecting wellness impacts physical health, productivity, mental well-being, and long-term quality of life. More individuals seek convenient, affordable, and reliable methods to improve their health.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1028700"/>
            <a:ext cx="842256" cy="694610"/>
          </a:xfrm>
          <a:custGeom>
            <a:avLst/>
            <a:gdLst/>
            <a:ahLst/>
            <a:cxnLst/>
            <a:rect l="l" t="t" r="r" b="b"/>
            <a:pathLst>
              <a:path w="842256" h="694610">
                <a:moveTo>
                  <a:pt x="0" y="0"/>
                </a:moveTo>
                <a:lnTo>
                  <a:pt x="842256" y="0"/>
                </a:lnTo>
                <a:lnTo>
                  <a:pt x="842256" y="694610"/>
                </a:lnTo>
                <a:lnTo>
                  <a:pt x="0" y="6946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6057710" y="516551"/>
            <a:ext cx="1533431" cy="1585314"/>
          </a:xfrm>
          <a:custGeom>
            <a:avLst/>
            <a:gdLst/>
            <a:ahLst/>
            <a:cxnLst/>
            <a:rect l="l" t="t" r="r" b="b"/>
            <a:pathLst>
              <a:path w="1533431" h="1585314">
                <a:moveTo>
                  <a:pt x="0" y="0"/>
                </a:moveTo>
                <a:lnTo>
                  <a:pt x="1533431" y="0"/>
                </a:lnTo>
                <a:lnTo>
                  <a:pt x="1533431" y="1585314"/>
                </a:lnTo>
                <a:lnTo>
                  <a:pt x="0" y="158531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7481755" y="2101865"/>
            <a:ext cx="6308378" cy="2583988"/>
            <a:chOff x="0" y="0"/>
            <a:chExt cx="977333" cy="40032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77333" cy="400327"/>
            </a:xfrm>
            <a:custGeom>
              <a:avLst/>
              <a:gdLst/>
              <a:ahLst/>
              <a:cxnLst/>
              <a:rect l="l" t="t" r="r" b="b"/>
              <a:pathLst>
                <a:path w="977333" h="400327">
                  <a:moveTo>
                    <a:pt x="0" y="0"/>
                  </a:moveTo>
                  <a:lnTo>
                    <a:pt x="977333" y="0"/>
                  </a:lnTo>
                  <a:lnTo>
                    <a:pt x="977333" y="400327"/>
                  </a:lnTo>
                  <a:lnTo>
                    <a:pt x="0" y="400327"/>
                  </a:lnTo>
                  <a:close/>
                </a:path>
              </a:pathLst>
            </a:custGeom>
            <a:blipFill>
              <a:blip r:embed="rId6"/>
              <a:stretch>
                <a:fillRect t="-31479" b="-31479"/>
              </a:stretch>
            </a:blipFill>
          </p:spPr>
        </p:sp>
      </p:grpSp>
      <p:sp>
        <p:nvSpPr>
          <p:cNvPr id="6" name="TextBox 6"/>
          <p:cNvSpPr txBox="1"/>
          <p:nvPr/>
        </p:nvSpPr>
        <p:spPr>
          <a:xfrm>
            <a:off x="1028700" y="2929967"/>
            <a:ext cx="5759843" cy="19786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20"/>
              </a:lnSpc>
            </a:pPr>
            <a:r>
              <a:rPr lang="en-US" sz="8000" b="1" spc="-168">
                <a:solidFill>
                  <a:srgbClr val="C1E328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THE SOLUTION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5197634"/>
            <a:ext cx="10740192" cy="9757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2100" spc="33">
                <a:solidFill>
                  <a:srgbClr val="C1E328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We offer an all-in-one mobile platform that provides personalized wellness plans including meal suggestions, quick home workouts, and guided mental health exercises designed to fit into busy lifestyles and limited budgets.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7755482"/>
            <a:ext cx="2192262" cy="3310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688"/>
              </a:lnSpc>
            </a:pPr>
            <a:r>
              <a:rPr lang="en-US" sz="2100" b="1" spc="98">
                <a:solidFill>
                  <a:srgbClr val="C1E328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CONVENIENT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8282559"/>
            <a:ext cx="3292828" cy="9757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2100" spc="33">
                <a:solidFill>
                  <a:srgbClr val="C1E328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Everything is accessible in one app no need to juggle multiple services.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289494" y="7693075"/>
            <a:ext cx="2192262" cy="3310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688"/>
              </a:lnSpc>
            </a:pPr>
            <a:r>
              <a:rPr lang="en-US" sz="2100" b="1" spc="98">
                <a:solidFill>
                  <a:srgbClr val="C1E328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AFFORDABLE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289494" y="8220152"/>
            <a:ext cx="3195414" cy="9757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2100" spc="33">
                <a:solidFill>
                  <a:srgbClr val="C1E328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Free basic features, with low-cost premium plans for full access.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551697" y="7755482"/>
            <a:ext cx="2870700" cy="3310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688"/>
              </a:lnSpc>
            </a:pPr>
            <a:r>
              <a:rPr lang="en-US" sz="2100" b="1" spc="98">
                <a:solidFill>
                  <a:srgbClr val="C1E328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PERSONALIZED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551697" y="8282559"/>
            <a:ext cx="3227885" cy="9757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2100" spc="33">
                <a:solidFill>
                  <a:srgbClr val="C1E328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Plans adjust based on user goals, preferences, and schedules.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3812490" y="7693075"/>
            <a:ext cx="3446810" cy="3310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688"/>
              </a:lnSpc>
            </a:pPr>
            <a:r>
              <a:rPr lang="en-US" sz="2100" b="1" spc="98">
                <a:solidFill>
                  <a:srgbClr val="C1E328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HOLISTIC APPROACH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3812490" y="8220152"/>
            <a:ext cx="3446810" cy="9757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2100" spc="33">
                <a:solidFill>
                  <a:srgbClr val="C1E328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Combines physical health, mental well-being, and daily habits.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1028700"/>
            <a:ext cx="842256" cy="694610"/>
          </a:xfrm>
          <a:custGeom>
            <a:avLst/>
            <a:gdLst/>
            <a:ahLst/>
            <a:cxnLst/>
            <a:rect l="l" t="t" r="r" b="b"/>
            <a:pathLst>
              <a:path w="842256" h="694610">
                <a:moveTo>
                  <a:pt x="0" y="0"/>
                </a:moveTo>
                <a:lnTo>
                  <a:pt x="842256" y="0"/>
                </a:lnTo>
                <a:lnTo>
                  <a:pt x="842256" y="694610"/>
                </a:lnTo>
                <a:lnTo>
                  <a:pt x="0" y="6946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00" y="2929967"/>
            <a:ext cx="7496054" cy="19786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20"/>
              </a:lnSpc>
            </a:pPr>
            <a:r>
              <a:rPr lang="en-US" sz="8000" b="1" spc="-168">
                <a:solidFill>
                  <a:srgbClr val="C1E328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MARKET OPPORTUNITY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5197634"/>
            <a:ext cx="5865436" cy="1299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2100" spc="33">
                <a:solidFill>
                  <a:srgbClr val="C1E328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The demand for accessible and affordable wellness solutions is expanding quickly as more people prioritize health, especially in urban environments.</a:t>
            </a: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85" y="967092"/>
            <a:ext cx="8873798" cy="6704491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1028700" y="8244704"/>
            <a:ext cx="9432321" cy="9978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88"/>
              </a:lnSpc>
            </a:pPr>
            <a:r>
              <a:rPr lang="en-US" sz="2100" b="1" spc="98">
                <a:solidFill>
                  <a:srgbClr val="C1E328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THE GLOBAL WELLNESS MARKET IS VALUED AT OVER $4.5 TRILLION, WITH DIGITAL WELLNESS SERVICES GROWING BY 8% ANNUALLY.</a:t>
            </a:r>
          </a:p>
        </p:txBody>
      </p:sp>
      <p:sp>
        <p:nvSpPr>
          <p:cNvPr id="7" name="AutoShape 7"/>
          <p:cNvSpPr/>
          <p:nvPr/>
        </p:nvSpPr>
        <p:spPr>
          <a:xfrm>
            <a:off x="1028700" y="7911329"/>
            <a:ext cx="2626874" cy="0"/>
          </a:xfrm>
          <a:prstGeom prst="line">
            <a:avLst/>
          </a:prstGeom>
          <a:ln w="114300" cap="flat">
            <a:solidFill>
              <a:srgbClr val="C1E328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5811346"/>
            <a:ext cx="6473110" cy="19786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20"/>
              </a:lnSpc>
            </a:pPr>
            <a:r>
              <a:rPr lang="en-US" sz="8000" b="1" spc="-168">
                <a:solidFill>
                  <a:srgbClr val="C1E328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SERVICE OVERVIEW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905271" y="1075586"/>
            <a:ext cx="3682359" cy="3902991"/>
            <a:chOff x="0" y="0"/>
            <a:chExt cx="570494" cy="60467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70494" cy="604675"/>
            </a:xfrm>
            <a:custGeom>
              <a:avLst/>
              <a:gdLst/>
              <a:ahLst/>
              <a:cxnLst/>
              <a:rect l="l" t="t" r="r" b="b"/>
              <a:pathLst>
                <a:path w="570494" h="604675">
                  <a:moveTo>
                    <a:pt x="0" y="0"/>
                  </a:moveTo>
                  <a:lnTo>
                    <a:pt x="570494" y="0"/>
                  </a:lnTo>
                  <a:lnTo>
                    <a:pt x="570494" y="604675"/>
                  </a:lnTo>
                  <a:lnTo>
                    <a:pt x="0" y="604675"/>
                  </a:lnTo>
                  <a:close/>
                </a:path>
              </a:pathLst>
            </a:custGeom>
            <a:blipFill>
              <a:blip r:embed="rId2"/>
              <a:stretch>
                <a:fillRect l="-29543" r="-29543"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>
            <a:off x="8905271" y="5355309"/>
            <a:ext cx="3682359" cy="3902991"/>
            <a:chOff x="0" y="0"/>
            <a:chExt cx="570494" cy="60467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70494" cy="604675"/>
            </a:xfrm>
            <a:custGeom>
              <a:avLst/>
              <a:gdLst/>
              <a:ahLst/>
              <a:cxnLst/>
              <a:rect l="l" t="t" r="r" b="b"/>
              <a:pathLst>
                <a:path w="570494" h="604675">
                  <a:moveTo>
                    <a:pt x="0" y="0"/>
                  </a:moveTo>
                  <a:lnTo>
                    <a:pt x="570494" y="0"/>
                  </a:lnTo>
                  <a:lnTo>
                    <a:pt x="570494" y="604675"/>
                  </a:lnTo>
                  <a:lnTo>
                    <a:pt x="0" y="604675"/>
                  </a:lnTo>
                  <a:close/>
                </a:path>
              </a:pathLst>
            </a:custGeom>
            <a:blipFill>
              <a:blip r:embed="rId3"/>
              <a:stretch>
                <a:fillRect t="-17390" b="-17390"/>
              </a:stretch>
            </a:blipFill>
          </p:spPr>
        </p:sp>
      </p:grpSp>
      <p:sp>
        <p:nvSpPr>
          <p:cNvPr id="7" name="Freeform 7"/>
          <p:cNvSpPr/>
          <p:nvPr/>
        </p:nvSpPr>
        <p:spPr>
          <a:xfrm flipH="1">
            <a:off x="5738066" y="4429913"/>
            <a:ext cx="2138519" cy="1850791"/>
          </a:xfrm>
          <a:custGeom>
            <a:avLst/>
            <a:gdLst/>
            <a:ahLst/>
            <a:cxnLst/>
            <a:rect l="l" t="t" r="r" b="b"/>
            <a:pathLst>
              <a:path w="2138519" h="1850791">
                <a:moveTo>
                  <a:pt x="2138519" y="0"/>
                </a:moveTo>
                <a:lnTo>
                  <a:pt x="0" y="0"/>
                </a:lnTo>
                <a:lnTo>
                  <a:pt x="0" y="1850791"/>
                </a:lnTo>
                <a:lnTo>
                  <a:pt x="2138519" y="1850791"/>
                </a:lnTo>
                <a:lnTo>
                  <a:pt x="2138519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028700" y="7958709"/>
            <a:ext cx="6473110" cy="1299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2100" spc="33">
                <a:solidFill>
                  <a:srgbClr val="C1E328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Our product is designed to solve specific pain points through a seamless, user-focused experience. It offers a suite of features that directly address the needs of our target audience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3080998" y="3031287"/>
            <a:ext cx="4178302" cy="19472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2100" spc="33">
                <a:solidFill>
                  <a:srgbClr val="C1E328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The design and functionality are centered around intuitive interaction, making it easy for users to achieve their goals without friction or steep learning curves.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3080998" y="7634859"/>
            <a:ext cx="4178302" cy="16234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2100" spc="33">
                <a:solidFill>
                  <a:srgbClr val="C1E328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Onboarding identifies individual needs, while smart features adapt to behavior changes, and real-time feedback maintains user motivation.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6014892"/>
            <a:ext cx="6107085" cy="19786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20"/>
              </a:lnSpc>
            </a:pPr>
            <a:r>
              <a:rPr lang="en-US" sz="8000" b="1" spc="-168">
                <a:solidFill>
                  <a:srgbClr val="C1E328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BUSINESS MODEL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8282559"/>
            <a:ext cx="5865436" cy="1299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2100" spc="33">
                <a:solidFill>
                  <a:srgbClr val="C1E328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To ensure long-term sustainability and growth, our business model is designed to generate multiple streams of revenue while delivering value to users.</a:t>
            </a:r>
          </a:p>
        </p:txBody>
      </p:sp>
      <p:sp>
        <p:nvSpPr>
          <p:cNvPr id="4" name="AutoShape 4"/>
          <p:cNvSpPr/>
          <p:nvPr/>
        </p:nvSpPr>
        <p:spPr>
          <a:xfrm>
            <a:off x="7590332" y="2991763"/>
            <a:ext cx="4148873" cy="0"/>
          </a:xfrm>
          <a:prstGeom prst="line">
            <a:avLst/>
          </a:prstGeom>
          <a:ln w="66675" cap="flat">
            <a:solidFill>
              <a:srgbClr val="C1E328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TextBox 5"/>
          <p:cNvSpPr txBox="1"/>
          <p:nvPr/>
        </p:nvSpPr>
        <p:spPr>
          <a:xfrm>
            <a:off x="7876082" y="1835872"/>
            <a:ext cx="1866722" cy="6644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688"/>
              </a:lnSpc>
            </a:pPr>
            <a:r>
              <a:rPr lang="en-US" sz="2100" b="1" spc="98">
                <a:solidFill>
                  <a:srgbClr val="C1E328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REVENUE SOURCES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244114" y="1883497"/>
            <a:ext cx="4537728" cy="9757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2100" spc="33">
                <a:solidFill>
                  <a:srgbClr val="C1E328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Offer tiered monthly or annual plans with varying levels of access and premium features.</a:t>
            </a:r>
          </a:p>
        </p:txBody>
      </p:sp>
      <p:sp>
        <p:nvSpPr>
          <p:cNvPr id="7" name="AutoShape 7"/>
          <p:cNvSpPr/>
          <p:nvPr/>
        </p:nvSpPr>
        <p:spPr>
          <a:xfrm>
            <a:off x="7590332" y="4753062"/>
            <a:ext cx="4148873" cy="0"/>
          </a:xfrm>
          <a:prstGeom prst="line">
            <a:avLst/>
          </a:prstGeom>
          <a:ln w="66675" cap="flat">
            <a:solidFill>
              <a:srgbClr val="C1E328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TextBox 8"/>
          <p:cNvSpPr txBox="1"/>
          <p:nvPr/>
        </p:nvSpPr>
        <p:spPr>
          <a:xfrm>
            <a:off x="7876082" y="3597172"/>
            <a:ext cx="1866722" cy="6644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688"/>
              </a:lnSpc>
            </a:pPr>
            <a:r>
              <a:rPr lang="en-US" sz="2100" b="1" spc="98">
                <a:solidFill>
                  <a:srgbClr val="C1E328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PRICING STRATEGY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244114" y="3644797"/>
            <a:ext cx="5015186" cy="1299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2100" spc="33">
                <a:solidFill>
                  <a:srgbClr val="C1E328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Attract users with free access to basic features and convert them to paying users through compelling premium offerings.</a:t>
            </a:r>
          </a:p>
        </p:txBody>
      </p:sp>
      <p:sp>
        <p:nvSpPr>
          <p:cNvPr id="10" name="AutoShape 10"/>
          <p:cNvSpPr/>
          <p:nvPr/>
        </p:nvSpPr>
        <p:spPr>
          <a:xfrm>
            <a:off x="7590332" y="6514362"/>
            <a:ext cx="4148873" cy="0"/>
          </a:xfrm>
          <a:prstGeom prst="line">
            <a:avLst/>
          </a:prstGeom>
          <a:ln w="66675" cap="flat">
            <a:solidFill>
              <a:srgbClr val="C1E328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TextBox 11"/>
          <p:cNvSpPr txBox="1"/>
          <p:nvPr/>
        </p:nvSpPr>
        <p:spPr>
          <a:xfrm>
            <a:off x="7876082" y="5358471"/>
            <a:ext cx="2235667" cy="6644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688"/>
              </a:lnSpc>
            </a:pPr>
            <a:r>
              <a:rPr lang="en-US" sz="2100" b="1" spc="98">
                <a:solidFill>
                  <a:srgbClr val="C1E328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CUSTOMER ACQUISITION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244114" y="5406096"/>
            <a:ext cx="5015186" cy="1299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2100" spc="33">
                <a:solidFill>
                  <a:srgbClr val="C1E328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Referral programs incentivize users to spread the word, while partnerships with aligned organizations help extend our reach.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793342" y="2252222"/>
            <a:ext cx="12465958" cy="19786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20"/>
              </a:lnSpc>
            </a:pPr>
            <a:r>
              <a:rPr lang="en-US" sz="8000" b="1" spc="-168">
                <a:solidFill>
                  <a:srgbClr val="C1E328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COMPETITIVE ADVANTAGE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738887" y="4602358"/>
            <a:ext cx="7561162" cy="1299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2100" spc="33">
                <a:solidFill>
                  <a:srgbClr val="C1E328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Our competitors include existing solutions in the market that address parts of the problem, whether through standalone tools, manual methods, or platforms with limited focus. 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793342" y="4592833"/>
            <a:ext cx="2778233" cy="6644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88"/>
              </a:lnSpc>
            </a:pPr>
            <a:r>
              <a:rPr lang="en-US" sz="2100" b="1" spc="98">
                <a:solidFill>
                  <a:srgbClr val="C1E328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WHO ARE THE COMPETITORS?</a:t>
            </a:r>
          </a:p>
        </p:txBody>
      </p:sp>
      <p:sp>
        <p:nvSpPr>
          <p:cNvPr id="5" name="AutoShape 5"/>
          <p:cNvSpPr/>
          <p:nvPr/>
        </p:nvSpPr>
        <p:spPr>
          <a:xfrm>
            <a:off x="8125089" y="4611883"/>
            <a:ext cx="0" cy="4646417"/>
          </a:xfrm>
          <a:prstGeom prst="line">
            <a:avLst/>
          </a:prstGeom>
          <a:ln w="19050" cap="flat">
            <a:solidFill>
              <a:srgbClr val="C1E328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TextBox 6"/>
          <p:cNvSpPr txBox="1"/>
          <p:nvPr/>
        </p:nvSpPr>
        <p:spPr>
          <a:xfrm>
            <a:off x="8608671" y="6273943"/>
            <a:ext cx="7561162" cy="9757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2100" spc="33">
                <a:solidFill>
                  <a:srgbClr val="C1E328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We use a personalized system that adapts in real time to user behavior, creating a smarter and more engaging experience.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793342" y="6264418"/>
            <a:ext cx="2778233" cy="6644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88"/>
              </a:lnSpc>
            </a:pPr>
            <a:r>
              <a:rPr lang="en-US" sz="2100" b="1" spc="98">
                <a:solidFill>
                  <a:srgbClr val="C1E328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WHAT ARE YOUR STRENGTHS?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608671" y="7945009"/>
            <a:ext cx="7561162" cy="9757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2100" spc="33">
                <a:solidFill>
                  <a:srgbClr val="C1E328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Unlike fragmented alternatives, our platform offers a seamless, end-to-end experience tailored to their daily routines and goals.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793342" y="7935484"/>
            <a:ext cx="2778233" cy="6644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88"/>
              </a:lnSpc>
            </a:pPr>
            <a:r>
              <a:rPr lang="en-US" sz="2100" b="1" spc="98">
                <a:solidFill>
                  <a:srgbClr val="C1E328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WHY WILL PEOPLE CHOOSE YOU?</a:t>
            </a:r>
          </a:p>
        </p:txBody>
      </p:sp>
      <p:sp>
        <p:nvSpPr>
          <p:cNvPr id="10" name="Freeform 10"/>
          <p:cNvSpPr/>
          <p:nvPr/>
        </p:nvSpPr>
        <p:spPr>
          <a:xfrm>
            <a:off x="1105505" y="8373850"/>
            <a:ext cx="765451" cy="884450"/>
          </a:xfrm>
          <a:custGeom>
            <a:avLst/>
            <a:gdLst/>
            <a:ahLst/>
            <a:cxnLst/>
            <a:rect l="l" t="t" r="r" b="b"/>
            <a:pathLst>
              <a:path w="765451" h="884450">
                <a:moveTo>
                  <a:pt x="0" y="0"/>
                </a:moveTo>
                <a:lnTo>
                  <a:pt x="765451" y="0"/>
                </a:lnTo>
                <a:lnTo>
                  <a:pt x="765451" y="884450"/>
                </a:lnTo>
                <a:lnTo>
                  <a:pt x="0" y="8844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1028700"/>
            <a:ext cx="842256" cy="694610"/>
          </a:xfrm>
          <a:custGeom>
            <a:avLst/>
            <a:gdLst/>
            <a:ahLst/>
            <a:cxnLst/>
            <a:rect l="l" t="t" r="r" b="b"/>
            <a:pathLst>
              <a:path w="842256" h="694610">
                <a:moveTo>
                  <a:pt x="0" y="0"/>
                </a:moveTo>
                <a:lnTo>
                  <a:pt x="842256" y="0"/>
                </a:lnTo>
                <a:lnTo>
                  <a:pt x="842256" y="694610"/>
                </a:lnTo>
                <a:lnTo>
                  <a:pt x="0" y="6946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AutoShape 3"/>
          <p:cNvSpPr/>
          <p:nvPr/>
        </p:nvSpPr>
        <p:spPr>
          <a:xfrm>
            <a:off x="11116599" y="6748367"/>
            <a:ext cx="5404812" cy="0"/>
          </a:xfrm>
          <a:prstGeom prst="line">
            <a:avLst/>
          </a:prstGeom>
          <a:ln w="66675" cap="flat">
            <a:solidFill>
              <a:srgbClr val="C1E328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AutoShape 4"/>
          <p:cNvSpPr/>
          <p:nvPr/>
        </p:nvSpPr>
        <p:spPr>
          <a:xfrm>
            <a:off x="11116599" y="7986665"/>
            <a:ext cx="5404812" cy="0"/>
          </a:xfrm>
          <a:prstGeom prst="line">
            <a:avLst/>
          </a:prstGeom>
          <a:ln w="66675" cap="flat">
            <a:solidFill>
              <a:srgbClr val="C1E328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AutoShape 5"/>
          <p:cNvSpPr/>
          <p:nvPr/>
        </p:nvSpPr>
        <p:spPr>
          <a:xfrm>
            <a:off x="11116599" y="9224962"/>
            <a:ext cx="5404812" cy="0"/>
          </a:xfrm>
          <a:prstGeom prst="line">
            <a:avLst/>
          </a:prstGeom>
          <a:ln w="66675" cap="flat">
            <a:solidFill>
              <a:srgbClr val="C1E328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Freeform 6"/>
          <p:cNvSpPr/>
          <p:nvPr/>
        </p:nvSpPr>
        <p:spPr>
          <a:xfrm>
            <a:off x="3654230" y="8066606"/>
            <a:ext cx="1191694" cy="1191694"/>
          </a:xfrm>
          <a:custGeom>
            <a:avLst/>
            <a:gdLst/>
            <a:ahLst/>
            <a:cxnLst/>
            <a:rect l="l" t="t" r="r" b="b"/>
            <a:pathLst>
              <a:path w="1191694" h="1191694">
                <a:moveTo>
                  <a:pt x="0" y="0"/>
                </a:moveTo>
                <a:lnTo>
                  <a:pt x="1191694" y="0"/>
                </a:lnTo>
                <a:lnTo>
                  <a:pt x="1191694" y="1191694"/>
                </a:lnTo>
                <a:lnTo>
                  <a:pt x="0" y="119169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5694560" y="1028700"/>
            <a:ext cx="1564740" cy="1564740"/>
          </a:xfrm>
          <a:custGeom>
            <a:avLst/>
            <a:gdLst/>
            <a:ahLst/>
            <a:cxnLst/>
            <a:rect l="l" t="t" r="r" b="b"/>
            <a:pathLst>
              <a:path w="1564740" h="1564740">
                <a:moveTo>
                  <a:pt x="0" y="0"/>
                </a:moveTo>
                <a:lnTo>
                  <a:pt x="1564740" y="0"/>
                </a:lnTo>
                <a:lnTo>
                  <a:pt x="1564740" y="1564740"/>
                </a:lnTo>
                <a:lnTo>
                  <a:pt x="0" y="156474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2049367" y="1056536"/>
            <a:ext cx="1604863" cy="6644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688"/>
              </a:lnSpc>
            </a:pPr>
            <a:r>
              <a:rPr lang="en-US" sz="2100" b="1" spc="98">
                <a:solidFill>
                  <a:srgbClr val="C1E328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FRADEL AND SPIES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654230" y="2477362"/>
            <a:ext cx="5759843" cy="19786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20"/>
              </a:lnSpc>
            </a:pPr>
            <a:r>
              <a:rPr lang="en-US" sz="8000" b="1" spc="-168">
                <a:solidFill>
                  <a:srgbClr val="C1E328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MARKET STRATEGY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654230" y="4745029"/>
            <a:ext cx="7167595" cy="9757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2100" spc="33">
                <a:solidFill>
                  <a:srgbClr val="C1E328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To successfully introduce our product to the market and gain early traction, we’ve developed a clear go-to-market strategy.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402349" y="5952981"/>
            <a:ext cx="4036986" cy="3310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688"/>
              </a:lnSpc>
            </a:pPr>
            <a:r>
              <a:rPr lang="en-US" sz="2100" b="1" spc="98">
                <a:solidFill>
                  <a:srgbClr val="C1E328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MARKETING CHANNELS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402349" y="7191279"/>
            <a:ext cx="4036986" cy="3310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688"/>
              </a:lnSpc>
            </a:pPr>
            <a:r>
              <a:rPr lang="en-US" sz="2100" b="1" spc="98">
                <a:solidFill>
                  <a:srgbClr val="C1E328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INITIAL LAUNCH PLAN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402349" y="8429577"/>
            <a:ext cx="4036986" cy="3310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688"/>
              </a:lnSpc>
            </a:pPr>
            <a:r>
              <a:rPr lang="en-US" sz="2100" b="1" spc="98">
                <a:solidFill>
                  <a:srgbClr val="C1E328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GROWTH MILESTONES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1028700"/>
            <a:ext cx="842256" cy="694610"/>
          </a:xfrm>
          <a:custGeom>
            <a:avLst/>
            <a:gdLst/>
            <a:ahLst/>
            <a:cxnLst/>
            <a:rect l="l" t="t" r="r" b="b"/>
            <a:pathLst>
              <a:path w="842256" h="694610">
                <a:moveTo>
                  <a:pt x="0" y="0"/>
                </a:moveTo>
                <a:lnTo>
                  <a:pt x="842256" y="0"/>
                </a:lnTo>
                <a:lnTo>
                  <a:pt x="842256" y="694610"/>
                </a:lnTo>
                <a:lnTo>
                  <a:pt x="0" y="6946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3049860" y="7638045"/>
            <a:ext cx="401763" cy="401763"/>
          </a:xfrm>
          <a:custGeom>
            <a:avLst/>
            <a:gdLst/>
            <a:ahLst/>
            <a:cxnLst/>
            <a:rect l="l" t="t" r="r" b="b"/>
            <a:pathLst>
              <a:path w="401763" h="401763">
                <a:moveTo>
                  <a:pt x="0" y="0"/>
                </a:moveTo>
                <a:lnTo>
                  <a:pt x="401763" y="0"/>
                </a:lnTo>
                <a:lnTo>
                  <a:pt x="401763" y="401763"/>
                </a:lnTo>
                <a:lnTo>
                  <a:pt x="0" y="40176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3049860" y="6935735"/>
            <a:ext cx="401763" cy="401763"/>
          </a:xfrm>
          <a:custGeom>
            <a:avLst/>
            <a:gdLst/>
            <a:ahLst/>
            <a:cxnLst/>
            <a:rect l="l" t="t" r="r" b="b"/>
            <a:pathLst>
              <a:path w="401763" h="401763">
                <a:moveTo>
                  <a:pt x="0" y="0"/>
                </a:moveTo>
                <a:lnTo>
                  <a:pt x="401763" y="0"/>
                </a:lnTo>
                <a:lnTo>
                  <a:pt x="401763" y="401762"/>
                </a:lnTo>
                <a:lnTo>
                  <a:pt x="0" y="4017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3049860" y="8340356"/>
            <a:ext cx="401763" cy="401763"/>
          </a:xfrm>
          <a:custGeom>
            <a:avLst/>
            <a:gdLst/>
            <a:ahLst/>
            <a:cxnLst/>
            <a:rect l="l" t="t" r="r" b="b"/>
            <a:pathLst>
              <a:path w="401763" h="401763">
                <a:moveTo>
                  <a:pt x="0" y="0"/>
                </a:moveTo>
                <a:lnTo>
                  <a:pt x="401763" y="0"/>
                </a:lnTo>
                <a:lnTo>
                  <a:pt x="401763" y="401762"/>
                </a:lnTo>
                <a:lnTo>
                  <a:pt x="0" y="40176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6245563" y="1721000"/>
            <a:ext cx="4084874" cy="4114800"/>
          </a:xfrm>
          <a:custGeom>
            <a:avLst/>
            <a:gdLst/>
            <a:ahLst/>
            <a:cxnLst/>
            <a:rect l="l" t="t" r="r" b="b"/>
            <a:pathLst>
              <a:path w="4084874" h="4114800">
                <a:moveTo>
                  <a:pt x="0" y="0"/>
                </a:moveTo>
                <a:lnTo>
                  <a:pt x="4084874" y="0"/>
                </a:lnTo>
                <a:lnTo>
                  <a:pt x="408487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4327501" y="2016710"/>
            <a:ext cx="7364944" cy="2357212"/>
            <a:chOff x="0" y="0"/>
            <a:chExt cx="2539537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539537" cy="812800"/>
            </a:xfrm>
            <a:custGeom>
              <a:avLst/>
              <a:gdLst/>
              <a:ahLst/>
              <a:cxnLst/>
              <a:rect l="l" t="t" r="r" b="b"/>
              <a:pathLst>
                <a:path w="2539537" h="812800">
                  <a:moveTo>
                    <a:pt x="0" y="0"/>
                  </a:moveTo>
                  <a:lnTo>
                    <a:pt x="2539537" y="0"/>
                  </a:lnTo>
                  <a:lnTo>
                    <a:pt x="2539537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12"/>
              <a:stretch>
                <a:fillRect l="-25061" r="42932"/>
              </a:stretch>
            </a:blipFill>
          </p:spPr>
        </p:sp>
      </p:grpSp>
      <p:sp>
        <p:nvSpPr>
          <p:cNvPr id="9" name="TextBox 9"/>
          <p:cNvSpPr txBox="1"/>
          <p:nvPr/>
        </p:nvSpPr>
        <p:spPr>
          <a:xfrm>
            <a:off x="4327501" y="5108284"/>
            <a:ext cx="8027034" cy="43670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19"/>
              </a:lnSpc>
            </a:pPr>
            <a:r>
              <a:rPr lang="en-US" sz="17786" b="1" spc="-373">
                <a:solidFill>
                  <a:srgbClr val="C1E328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THANK YOU.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049367" y="1056536"/>
            <a:ext cx="1604863" cy="6644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688"/>
              </a:lnSpc>
            </a:pPr>
            <a:r>
              <a:rPr lang="en-US" sz="2100" b="1" spc="98">
                <a:solidFill>
                  <a:srgbClr val="C1E328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FRADEL AND SPIES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049860" y="6299846"/>
            <a:ext cx="2496099" cy="3310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688"/>
              </a:lnSpc>
            </a:pPr>
            <a:r>
              <a:rPr lang="en-US" sz="2100" b="1" spc="98">
                <a:solidFill>
                  <a:srgbClr val="C1E328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CONTACT US: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753574" y="6967833"/>
            <a:ext cx="2678174" cy="3280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2100" spc="33">
                <a:solidFill>
                  <a:srgbClr val="C1E328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+123-456-7890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3753574" y="7670143"/>
            <a:ext cx="3505726" cy="3280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2100" spc="33">
                <a:solidFill>
                  <a:srgbClr val="C1E328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hello@reallygreatsite.com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3753574" y="8414077"/>
            <a:ext cx="3821042" cy="3280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2100" spc="33">
                <a:solidFill>
                  <a:srgbClr val="C1E328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www.reallygreatsite.com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515</Words>
  <Application>Microsoft Office PowerPoint</Application>
  <PresentationFormat>Custom</PresentationFormat>
  <Paragraphs>49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Open Sauce Bold</vt:lpstr>
      <vt:lpstr>Calibri</vt:lpstr>
      <vt:lpstr>Open Sauce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user 20251128a</cp:lastModifiedBy>
  <cp:revision>1</cp:revision>
  <dcterms:created xsi:type="dcterms:W3CDTF">2006-08-16T00:00:00Z</dcterms:created>
  <dcterms:modified xsi:type="dcterms:W3CDTF">2026-03-02T07:31:12Z</dcterms:modified>
  <dc:identifier>DAHCx8Q9-t4</dc:identifier>
</cp:coreProperties>
</file>